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8" r:id="rId22"/>
    <p:sldId id="279" r:id="rId23"/>
  </p:sldIdLst>
  <p:sldSz cx="18288000" cy="10287000"/>
  <p:notesSz cx="6858000" cy="9144000"/>
  <p:embeddedFontLst>
    <p:embeddedFont>
      <p:font typeface="Candal" panose="020B0604020202020204" charset="0"/>
      <p:regular r:id="rId24"/>
    </p:embeddedFont>
    <p:embeddedFont>
      <p:font typeface="Glacial Indifference" panose="020B0604020202020204" charset="0"/>
      <p:regular r:id="rId25"/>
    </p:embeddedFont>
    <p:embeddedFont>
      <p:font typeface="Glacial Indifference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A5CEE"/>
    <a:srgbClr val="1134C9"/>
    <a:srgbClr val="133BE7"/>
    <a:srgbClr val="343434"/>
    <a:srgbClr val="1B0B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22" autoAdjust="0"/>
  </p:normalViewPr>
  <p:slideViewPr>
    <p:cSldViewPr>
      <p:cViewPr varScale="1">
        <p:scale>
          <a:sx n="39" d="100"/>
          <a:sy n="39" d="100"/>
        </p:scale>
        <p:origin x="840"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1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8.sv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4.svg"/><Relationship Id="rId5" Type="http://schemas.openxmlformats.org/officeDocument/2006/relationships/image" Target="../media/image20.svg"/><Relationship Id="rId10"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18.svg"/></Relationships>
</file>

<file path=ppt/slides/_rels/slide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1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svg"/><Relationship Id="rId7" Type="http://schemas.openxmlformats.org/officeDocument/2006/relationships/image" Target="../media/image3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s>
</file>

<file path=ppt/slides/_rels/slide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28.sv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28.sv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28.sv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28.sv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28.sv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28.sv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2.svg"/><Relationship Id="rId7" Type="http://schemas.openxmlformats.org/officeDocument/2006/relationships/image" Target="../media/image2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45.svg"/></Relationships>
</file>

<file path=ppt/slides/_rels/slide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svg"/><Relationship Id="rId7" Type="http://schemas.openxmlformats.org/officeDocument/2006/relationships/image" Target="../media/image2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8.svg"/><Relationship Id="rId10" Type="http://schemas.openxmlformats.org/officeDocument/2006/relationships/hyperlink" Target="https://hamz16-30.github.io/Botalyze/" TargetMode="External"/><Relationship Id="rId4" Type="http://schemas.openxmlformats.org/officeDocument/2006/relationships/image" Target="../media/image17.png"/><Relationship Id="rId9"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49.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16.sv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51.svg"/><Relationship Id="rId7" Type="http://schemas.openxmlformats.org/officeDocument/2006/relationships/image" Target="../media/image53.sv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28.sv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3182110" y="5181110"/>
            <a:ext cx="8154379" cy="8154379"/>
          </a:xfrm>
          <a:custGeom>
            <a:avLst/>
            <a:gdLst/>
            <a:ahLst/>
            <a:cxnLst/>
            <a:rect l="l" t="t" r="r" b="b"/>
            <a:pathLst>
              <a:path w="8154379" h="8154379">
                <a:moveTo>
                  <a:pt x="0" y="0"/>
                </a:moveTo>
                <a:lnTo>
                  <a:pt x="8154380" y="0"/>
                </a:lnTo>
                <a:lnTo>
                  <a:pt x="8154380" y="8154380"/>
                </a:lnTo>
                <a:lnTo>
                  <a:pt x="0" y="81543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964929" y="-728801"/>
            <a:ext cx="4809082" cy="1757501"/>
          </a:xfrm>
          <a:custGeom>
            <a:avLst/>
            <a:gdLst/>
            <a:ahLst/>
            <a:cxnLst/>
            <a:rect l="l" t="t" r="r" b="b"/>
            <a:pathLst>
              <a:path w="4809082" h="1757501">
                <a:moveTo>
                  <a:pt x="0" y="0"/>
                </a:moveTo>
                <a:lnTo>
                  <a:pt x="4809082" y="0"/>
                </a:lnTo>
                <a:lnTo>
                  <a:pt x="4809082" y="1757501"/>
                </a:lnTo>
                <a:lnTo>
                  <a:pt x="0" y="1757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048490" y="-2973269"/>
            <a:ext cx="8154379" cy="8154379"/>
          </a:xfrm>
          <a:custGeom>
            <a:avLst/>
            <a:gdLst/>
            <a:ahLst/>
            <a:cxnLst/>
            <a:rect l="l" t="t" r="r" b="b"/>
            <a:pathLst>
              <a:path w="8154379" h="8154379">
                <a:moveTo>
                  <a:pt x="0" y="0"/>
                </a:moveTo>
                <a:lnTo>
                  <a:pt x="8154380" y="0"/>
                </a:lnTo>
                <a:lnTo>
                  <a:pt x="8154380" y="8154379"/>
                </a:lnTo>
                <a:lnTo>
                  <a:pt x="0" y="81543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228692" y="3495514"/>
            <a:ext cx="11766040" cy="1940340"/>
          </a:xfrm>
          <a:prstGeom prst="rect">
            <a:avLst/>
          </a:prstGeom>
        </p:spPr>
        <p:txBody>
          <a:bodyPr lIns="0" tIns="0" rIns="0" bIns="0" rtlCol="0" anchor="t">
            <a:spAutoFit/>
          </a:bodyPr>
          <a:lstStyle/>
          <a:p>
            <a:pPr algn="ctr">
              <a:lnSpc>
                <a:spcPts val="14516"/>
              </a:lnSpc>
            </a:pPr>
            <a:r>
              <a:rPr lang="en-US" sz="14516" dirty="0">
                <a:solidFill>
                  <a:srgbClr val="343434"/>
                </a:solidFill>
                <a:latin typeface="Candal"/>
                <a:ea typeface="Candal"/>
                <a:cs typeface="Candal"/>
                <a:sym typeface="Candal"/>
              </a:rPr>
              <a:t>BOTALYZE</a:t>
            </a:r>
          </a:p>
        </p:txBody>
      </p:sp>
      <p:sp>
        <p:nvSpPr>
          <p:cNvPr id="6" name="Freeform 6"/>
          <p:cNvSpPr/>
          <p:nvPr/>
        </p:nvSpPr>
        <p:spPr>
          <a:xfrm>
            <a:off x="-236144" y="-195501"/>
            <a:ext cx="4425558" cy="4425558"/>
          </a:xfrm>
          <a:custGeom>
            <a:avLst/>
            <a:gdLst/>
            <a:ahLst/>
            <a:cxnLst/>
            <a:rect l="l" t="t" r="r" b="b"/>
            <a:pathLst>
              <a:path w="4425558" h="4425558">
                <a:moveTo>
                  <a:pt x="0" y="0"/>
                </a:moveTo>
                <a:lnTo>
                  <a:pt x="4425558" y="0"/>
                </a:lnTo>
                <a:lnTo>
                  <a:pt x="4425558" y="4425558"/>
                </a:lnTo>
                <a:lnTo>
                  <a:pt x="0" y="44255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H="1" flipV="1">
            <a:off x="14171741" y="6177516"/>
            <a:ext cx="4425558" cy="4425558"/>
          </a:xfrm>
          <a:custGeom>
            <a:avLst/>
            <a:gdLst/>
            <a:ahLst/>
            <a:cxnLst/>
            <a:rect l="l" t="t" r="r" b="b"/>
            <a:pathLst>
              <a:path w="4425558" h="4425558">
                <a:moveTo>
                  <a:pt x="4425558" y="4425559"/>
                </a:moveTo>
                <a:lnTo>
                  <a:pt x="0" y="4425559"/>
                </a:lnTo>
                <a:lnTo>
                  <a:pt x="0" y="0"/>
                </a:lnTo>
                <a:lnTo>
                  <a:pt x="4425558" y="0"/>
                </a:lnTo>
                <a:lnTo>
                  <a:pt x="4425558" y="442555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3182110" y="-728801"/>
            <a:ext cx="4809082" cy="1757501"/>
          </a:xfrm>
          <a:custGeom>
            <a:avLst/>
            <a:gdLst/>
            <a:ahLst/>
            <a:cxnLst/>
            <a:rect l="l" t="t" r="r" b="b"/>
            <a:pathLst>
              <a:path w="4809082" h="1757501">
                <a:moveTo>
                  <a:pt x="0" y="0"/>
                </a:moveTo>
                <a:lnTo>
                  <a:pt x="4809083" y="0"/>
                </a:lnTo>
                <a:lnTo>
                  <a:pt x="4809083" y="1757501"/>
                </a:lnTo>
                <a:lnTo>
                  <a:pt x="0" y="1757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8073520" y="-728801"/>
            <a:ext cx="4809082" cy="1757501"/>
          </a:xfrm>
          <a:custGeom>
            <a:avLst/>
            <a:gdLst/>
            <a:ahLst/>
            <a:cxnLst/>
            <a:rect l="l" t="t" r="r" b="b"/>
            <a:pathLst>
              <a:path w="4809082" h="1757501">
                <a:moveTo>
                  <a:pt x="0" y="0"/>
                </a:moveTo>
                <a:lnTo>
                  <a:pt x="4809082" y="0"/>
                </a:lnTo>
                <a:lnTo>
                  <a:pt x="4809082" y="1757501"/>
                </a:lnTo>
                <a:lnTo>
                  <a:pt x="0" y="1757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4792514" y="5207740"/>
            <a:ext cx="8920564" cy="1699478"/>
          </a:xfrm>
          <a:prstGeom prst="rect">
            <a:avLst/>
          </a:prstGeom>
        </p:spPr>
        <p:txBody>
          <a:bodyPr lIns="0" tIns="0" rIns="0" bIns="0" rtlCol="0" anchor="t">
            <a:spAutoFit/>
          </a:bodyPr>
          <a:lstStyle/>
          <a:p>
            <a:pPr algn="ctr">
              <a:lnSpc>
                <a:spcPts val="4502"/>
              </a:lnSpc>
            </a:pPr>
            <a:r>
              <a:rPr lang="en-US" sz="3216" b="1" dirty="0">
                <a:solidFill>
                  <a:srgbClr val="343434"/>
                </a:solidFill>
                <a:latin typeface="Glacial Indifference Bold"/>
                <a:ea typeface="Glacial Indifference Bold"/>
                <a:cs typeface="Glacial Indifference Bold"/>
                <a:sym typeface="Glacial Indifference Bold"/>
              </a:rPr>
              <a:t>AI-Based Voice Agents for Hotels, Restaurants </a:t>
            </a:r>
          </a:p>
          <a:p>
            <a:pPr algn="ctr">
              <a:lnSpc>
                <a:spcPts val="4502"/>
              </a:lnSpc>
            </a:pPr>
            <a:endParaRPr lang="en-US" sz="3216" b="1" dirty="0">
              <a:solidFill>
                <a:srgbClr val="343434"/>
              </a:solidFill>
              <a:latin typeface="Glacial Indifference Bold"/>
              <a:ea typeface="Glacial Indifference Bold"/>
              <a:cs typeface="Glacial Indifference Bold"/>
              <a:sym typeface="Glacial Indifference Bold"/>
            </a:endParaRPr>
          </a:p>
          <a:p>
            <a:pPr algn="ctr">
              <a:lnSpc>
                <a:spcPts val="4502"/>
              </a:lnSpc>
            </a:pPr>
            <a:endParaRPr lang="en-US" sz="3216" b="1" dirty="0">
              <a:solidFill>
                <a:srgbClr val="343434"/>
              </a:solidFill>
              <a:latin typeface="Glacial Indifference Bold"/>
              <a:ea typeface="Glacial Indifference Bold"/>
              <a:cs typeface="Glacial Indifference Bold"/>
              <a:sym typeface="Glacial Indifference Bold"/>
            </a:endParaRPr>
          </a:p>
        </p:txBody>
      </p:sp>
      <p:sp>
        <p:nvSpPr>
          <p:cNvPr id="11" name="TextBox 11"/>
          <p:cNvSpPr txBox="1"/>
          <p:nvPr/>
        </p:nvSpPr>
        <p:spPr>
          <a:xfrm>
            <a:off x="4508784" y="6981398"/>
            <a:ext cx="9488023" cy="560874"/>
          </a:xfrm>
          <a:prstGeom prst="rect">
            <a:avLst/>
          </a:prstGeom>
        </p:spPr>
        <p:txBody>
          <a:bodyPr lIns="0" tIns="0" rIns="0" bIns="0" rtlCol="0" anchor="t">
            <a:spAutoFit/>
          </a:bodyPr>
          <a:lstStyle/>
          <a:p>
            <a:pPr algn="ctr">
              <a:lnSpc>
                <a:spcPts val="4543"/>
              </a:lnSpc>
            </a:pPr>
            <a:r>
              <a:rPr lang="en-US" sz="3245" dirty="0">
                <a:solidFill>
                  <a:srgbClr val="343434"/>
                </a:solidFill>
                <a:latin typeface="Glacial Indifference"/>
                <a:ea typeface="Glacial Indifference"/>
                <a:cs typeface="Glacial Indifference"/>
                <a:sym typeface="Glacial Indifference"/>
              </a:rPr>
              <a:t>University of Engineering and Technology, Lahore</a:t>
            </a:r>
          </a:p>
        </p:txBody>
      </p:sp>
      <p:sp>
        <p:nvSpPr>
          <p:cNvPr id="12" name="TextBox 12"/>
          <p:cNvSpPr txBox="1"/>
          <p:nvPr/>
        </p:nvSpPr>
        <p:spPr>
          <a:xfrm>
            <a:off x="6185450" y="6057479"/>
            <a:ext cx="5917100" cy="488959"/>
          </a:xfrm>
          <a:prstGeom prst="rect">
            <a:avLst/>
          </a:prstGeom>
        </p:spPr>
        <p:txBody>
          <a:bodyPr lIns="0" tIns="0" rIns="0" bIns="0" rtlCol="0" anchor="t">
            <a:spAutoFit/>
          </a:bodyPr>
          <a:lstStyle/>
          <a:p>
            <a:pPr algn="ctr">
              <a:lnSpc>
                <a:spcPts val="4001"/>
              </a:lnSpc>
              <a:spcBef>
                <a:spcPct val="0"/>
              </a:spcBef>
            </a:pPr>
            <a:r>
              <a:rPr lang="en-US" sz="2857" dirty="0">
                <a:solidFill>
                  <a:srgbClr val="343434"/>
                </a:solidFill>
                <a:latin typeface="Glacial Indifference"/>
                <a:ea typeface="Glacial Indifference"/>
                <a:cs typeface="Glacial Indifference"/>
                <a:sym typeface="Glacial Indifference"/>
              </a:rPr>
              <a:t>Your AI Assistant for Smarter Planning.</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6819259" y="5536331"/>
            <a:ext cx="2386734" cy="2386734"/>
          </a:xfrm>
          <a:custGeom>
            <a:avLst/>
            <a:gdLst/>
            <a:ahLst/>
            <a:cxnLst/>
            <a:rect l="l" t="t" r="r" b="b"/>
            <a:pathLst>
              <a:path w="2386734" h="2386734">
                <a:moveTo>
                  <a:pt x="0" y="0"/>
                </a:moveTo>
                <a:lnTo>
                  <a:pt x="2386733" y="0"/>
                </a:lnTo>
                <a:lnTo>
                  <a:pt x="2386733" y="2386734"/>
                </a:lnTo>
                <a:lnTo>
                  <a:pt x="0" y="23867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684393" y="6233632"/>
            <a:ext cx="8106736" cy="8106736"/>
          </a:xfrm>
          <a:custGeom>
            <a:avLst/>
            <a:gdLst/>
            <a:ahLst/>
            <a:cxnLst/>
            <a:rect l="l" t="t" r="r" b="b"/>
            <a:pathLst>
              <a:path w="8106736" h="8106736">
                <a:moveTo>
                  <a:pt x="0" y="0"/>
                </a:moveTo>
                <a:lnTo>
                  <a:pt x="8106737" y="0"/>
                </a:lnTo>
                <a:lnTo>
                  <a:pt x="8106737" y="8106736"/>
                </a:lnTo>
                <a:lnTo>
                  <a:pt x="0" y="81067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704062" y="7410583"/>
            <a:ext cx="6067399" cy="4114800"/>
          </a:xfrm>
          <a:custGeom>
            <a:avLst/>
            <a:gdLst/>
            <a:ahLst/>
            <a:cxnLst/>
            <a:rect l="l" t="t" r="r" b="b"/>
            <a:pathLst>
              <a:path w="6067399" h="4114800">
                <a:moveTo>
                  <a:pt x="0" y="0"/>
                </a:moveTo>
                <a:lnTo>
                  <a:pt x="6067399" y="0"/>
                </a:lnTo>
                <a:lnTo>
                  <a:pt x="606739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729427" y="-1522231"/>
            <a:ext cx="5516254" cy="5516254"/>
          </a:xfrm>
          <a:custGeom>
            <a:avLst/>
            <a:gdLst/>
            <a:ahLst/>
            <a:cxnLst/>
            <a:rect l="l" t="t" r="r" b="b"/>
            <a:pathLst>
              <a:path w="5516254" h="5516254">
                <a:moveTo>
                  <a:pt x="0" y="0"/>
                </a:moveTo>
                <a:lnTo>
                  <a:pt x="5516254" y="0"/>
                </a:lnTo>
                <a:lnTo>
                  <a:pt x="5516254" y="5516254"/>
                </a:lnTo>
                <a:lnTo>
                  <a:pt x="0" y="55162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V="1">
            <a:off x="-877565" y="-1028700"/>
            <a:ext cx="6251768" cy="4114800"/>
          </a:xfrm>
          <a:custGeom>
            <a:avLst/>
            <a:gdLst/>
            <a:ahLst/>
            <a:cxnLst/>
            <a:rect l="l" t="t" r="r" b="b"/>
            <a:pathLst>
              <a:path w="6251768" h="4114800">
                <a:moveTo>
                  <a:pt x="0" y="4114800"/>
                </a:moveTo>
                <a:lnTo>
                  <a:pt x="6251768" y="4114800"/>
                </a:lnTo>
                <a:lnTo>
                  <a:pt x="625176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6819259" y="244257"/>
            <a:ext cx="2386734" cy="2386734"/>
          </a:xfrm>
          <a:custGeom>
            <a:avLst/>
            <a:gdLst/>
            <a:ahLst/>
            <a:cxnLst/>
            <a:rect l="l" t="t" r="r" b="b"/>
            <a:pathLst>
              <a:path w="2386734" h="2386734">
                <a:moveTo>
                  <a:pt x="0" y="0"/>
                </a:moveTo>
                <a:lnTo>
                  <a:pt x="2386733" y="0"/>
                </a:lnTo>
                <a:lnTo>
                  <a:pt x="2386733" y="2386733"/>
                </a:lnTo>
                <a:lnTo>
                  <a:pt x="0" y="2386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3573991" y="1288749"/>
            <a:ext cx="11140016" cy="3204844"/>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Group Members</a:t>
            </a:r>
          </a:p>
          <a:p>
            <a:pPr algn="ctr">
              <a:lnSpc>
                <a:spcPts val="12880"/>
              </a:lnSpc>
            </a:pPr>
            <a:endParaRPr lang="en-US" sz="9200" dirty="0">
              <a:solidFill>
                <a:srgbClr val="343434"/>
              </a:solidFill>
              <a:latin typeface="Candal"/>
              <a:ea typeface="Candal"/>
              <a:cs typeface="Candal"/>
              <a:sym typeface="Candal"/>
            </a:endParaRPr>
          </a:p>
        </p:txBody>
      </p:sp>
      <p:sp>
        <p:nvSpPr>
          <p:cNvPr id="9" name="TextBox 9"/>
          <p:cNvSpPr txBox="1"/>
          <p:nvPr/>
        </p:nvSpPr>
        <p:spPr>
          <a:xfrm>
            <a:off x="5386263" y="3103121"/>
            <a:ext cx="9375397" cy="5380573"/>
          </a:xfrm>
          <a:prstGeom prst="rect">
            <a:avLst/>
          </a:prstGeom>
        </p:spPr>
        <p:txBody>
          <a:bodyPr lIns="0" tIns="0" rIns="0" bIns="0" rtlCol="0" anchor="t">
            <a:spAutoFit/>
          </a:bodyPr>
          <a:lstStyle/>
          <a:p>
            <a:pPr algn="l">
              <a:lnSpc>
                <a:spcPts val="4782"/>
              </a:lnSpc>
            </a:pPr>
            <a:r>
              <a:rPr lang="en-US" sz="3416" b="1" dirty="0">
                <a:solidFill>
                  <a:srgbClr val="343434"/>
                </a:solidFill>
                <a:latin typeface="Glacial Indifference Bold"/>
                <a:ea typeface="Glacial Indifference Bold"/>
                <a:cs typeface="Glacial Indifference Bold"/>
                <a:sym typeface="Glacial Indifference Bold"/>
              </a:rPr>
              <a:t>Noman Haider                 </a:t>
            </a:r>
            <a:r>
              <a:rPr lang="en-US" sz="3416" dirty="0">
                <a:solidFill>
                  <a:srgbClr val="343434"/>
                </a:solidFill>
                <a:latin typeface="Glacial Indifference"/>
                <a:ea typeface="Glacial Indifference"/>
                <a:cs typeface="Glacial Indifference"/>
                <a:sym typeface="Glacial Indifference"/>
              </a:rPr>
              <a:t>( 2025-GA-06 ) </a:t>
            </a:r>
            <a:r>
              <a:rPr lang="en-US" sz="3416" b="1" dirty="0">
                <a:solidFill>
                  <a:srgbClr val="343434"/>
                </a:solidFill>
                <a:latin typeface="Glacial Indifference Bold"/>
                <a:ea typeface="Glacial Indifference Bold"/>
                <a:cs typeface="Glacial Indifference Bold"/>
                <a:sym typeface="Glacial Indifference Bold"/>
              </a:rPr>
              <a:t> </a:t>
            </a:r>
          </a:p>
          <a:p>
            <a:pPr algn="l">
              <a:lnSpc>
                <a:spcPts val="4782"/>
              </a:lnSpc>
            </a:pPr>
            <a:r>
              <a:rPr lang="en-US" sz="3416" b="1" dirty="0">
                <a:solidFill>
                  <a:srgbClr val="343434"/>
                </a:solidFill>
                <a:latin typeface="Glacial Indifference Bold"/>
                <a:ea typeface="Glacial Indifference Bold"/>
                <a:cs typeface="Glacial Indifference Bold"/>
                <a:sym typeface="Glacial Indifference Bold"/>
              </a:rPr>
              <a:t>  </a:t>
            </a:r>
          </a:p>
          <a:p>
            <a:pPr algn="l">
              <a:lnSpc>
                <a:spcPts val="4782"/>
              </a:lnSpc>
            </a:pPr>
            <a:r>
              <a:rPr lang="en-US" sz="3416" b="1" dirty="0">
                <a:solidFill>
                  <a:srgbClr val="343434"/>
                </a:solidFill>
                <a:latin typeface="Glacial Indifference Bold"/>
                <a:ea typeface="Glacial Indifference Bold"/>
                <a:cs typeface="Glacial Indifference Bold"/>
                <a:sym typeface="Glacial Indifference Bold"/>
              </a:rPr>
              <a:t>Ghania Majid                 </a:t>
            </a:r>
            <a:r>
              <a:rPr lang="en-US" sz="3416" dirty="0">
                <a:solidFill>
                  <a:srgbClr val="343434"/>
                </a:solidFill>
                <a:latin typeface="Glacial Indifference"/>
                <a:ea typeface="Glacial Indifference"/>
                <a:cs typeface="Glacial Indifference"/>
                <a:sym typeface="Glacial Indifference"/>
              </a:rPr>
              <a:t> ( 2025-GA-07 ) </a:t>
            </a:r>
          </a:p>
          <a:p>
            <a:pPr algn="l">
              <a:lnSpc>
                <a:spcPts val="4782"/>
              </a:lnSpc>
            </a:pPr>
            <a:endParaRPr lang="en-US" sz="3416" dirty="0">
              <a:solidFill>
                <a:srgbClr val="343434"/>
              </a:solidFill>
              <a:latin typeface="Glacial Indifference"/>
              <a:ea typeface="Glacial Indifference"/>
              <a:cs typeface="Glacial Indifference"/>
              <a:sym typeface="Glacial Indifference"/>
            </a:endParaRPr>
          </a:p>
          <a:p>
            <a:pPr algn="l">
              <a:lnSpc>
                <a:spcPts val="4782"/>
              </a:lnSpc>
            </a:pPr>
            <a:r>
              <a:rPr lang="en-US" sz="3416" b="1" dirty="0">
                <a:solidFill>
                  <a:srgbClr val="343434"/>
                </a:solidFill>
                <a:latin typeface="Glacial Indifference Bold"/>
                <a:ea typeface="Glacial Indifference Bold"/>
                <a:cs typeface="Glacial Indifference Bold"/>
                <a:sym typeface="Glacial Indifference Bold"/>
              </a:rPr>
              <a:t>Zainab Aftab                   </a:t>
            </a:r>
            <a:r>
              <a:rPr lang="en-US" sz="3416" dirty="0">
                <a:solidFill>
                  <a:srgbClr val="343434"/>
                </a:solidFill>
                <a:latin typeface="Glacial Indifference"/>
                <a:ea typeface="Glacial Indifference"/>
                <a:cs typeface="Glacial Indifference"/>
                <a:sym typeface="Glacial Indifference"/>
              </a:rPr>
              <a:t>( 2025-GA-09 ) </a:t>
            </a:r>
          </a:p>
          <a:p>
            <a:pPr algn="l">
              <a:lnSpc>
                <a:spcPts val="4782"/>
              </a:lnSpc>
            </a:pPr>
            <a:endParaRPr lang="en-US" sz="3416" dirty="0">
              <a:solidFill>
                <a:srgbClr val="343434"/>
              </a:solidFill>
              <a:latin typeface="Glacial Indifference"/>
              <a:ea typeface="Glacial Indifference"/>
              <a:cs typeface="Glacial Indifference"/>
              <a:sym typeface="Glacial Indifference"/>
            </a:endParaRPr>
          </a:p>
          <a:p>
            <a:pPr algn="l">
              <a:lnSpc>
                <a:spcPts val="4782"/>
              </a:lnSpc>
            </a:pPr>
            <a:r>
              <a:rPr lang="en-US" sz="3416" b="1" dirty="0">
                <a:solidFill>
                  <a:srgbClr val="343434"/>
                </a:solidFill>
                <a:latin typeface="Glacial Indifference Bold"/>
                <a:ea typeface="Glacial Indifference Bold"/>
                <a:cs typeface="Glacial Indifference Bold"/>
                <a:sym typeface="Glacial Indifference Bold"/>
              </a:rPr>
              <a:t>Fakiha Ruhma </a:t>
            </a:r>
            <a:r>
              <a:rPr lang="en-US" sz="3416" dirty="0">
                <a:solidFill>
                  <a:srgbClr val="343434"/>
                </a:solidFill>
                <a:latin typeface="Glacial Indifference"/>
                <a:ea typeface="Glacial Indifference"/>
                <a:cs typeface="Glacial Indifference"/>
                <a:sym typeface="Glacial Indifference"/>
              </a:rPr>
              <a:t>                ( 2025-GA-12)    </a:t>
            </a:r>
            <a:r>
              <a:rPr lang="en-US" sz="3416" b="1" dirty="0">
                <a:solidFill>
                  <a:srgbClr val="343434"/>
                </a:solidFill>
                <a:latin typeface="Glacial Indifference Bold"/>
                <a:ea typeface="Glacial Indifference Bold"/>
                <a:cs typeface="Glacial Indifference Bold"/>
                <a:sym typeface="Glacial Indifference Bold"/>
              </a:rPr>
              <a:t>       </a:t>
            </a:r>
          </a:p>
          <a:p>
            <a:pPr algn="l">
              <a:lnSpc>
                <a:spcPts val="4782"/>
              </a:lnSpc>
            </a:pPr>
            <a:endParaRPr lang="en-US" sz="3416" b="1" dirty="0">
              <a:solidFill>
                <a:srgbClr val="343434"/>
              </a:solidFill>
              <a:latin typeface="Glacial Indifference Bold"/>
              <a:ea typeface="Glacial Indifference Bold"/>
              <a:cs typeface="Glacial Indifference Bold"/>
              <a:sym typeface="Glacial Indifference Bold"/>
            </a:endParaRPr>
          </a:p>
          <a:p>
            <a:pPr algn="l">
              <a:lnSpc>
                <a:spcPts val="4782"/>
              </a:lnSpc>
            </a:pPr>
            <a:r>
              <a:rPr lang="en-US" sz="3416" b="1" dirty="0">
                <a:solidFill>
                  <a:srgbClr val="343434"/>
                </a:solidFill>
                <a:latin typeface="Glacial Indifference Bold"/>
                <a:ea typeface="Glacial Indifference Bold"/>
                <a:cs typeface="Glacial Indifference Bold"/>
                <a:sym typeface="Glacial Indifference Bold"/>
              </a:rPr>
              <a:t>Muhammad Hamza        </a:t>
            </a:r>
            <a:r>
              <a:rPr lang="en-US" sz="3416" dirty="0">
                <a:solidFill>
                  <a:srgbClr val="343434"/>
                </a:solidFill>
                <a:latin typeface="Glacial Indifference"/>
                <a:ea typeface="Glacial Indifference"/>
                <a:cs typeface="Glacial Indifference"/>
                <a:sym typeface="Glacial Indifference"/>
              </a:rPr>
              <a:t>( 2025-GA-54 ) </a:t>
            </a:r>
          </a:p>
        </p:txBody>
      </p:sp>
      <p:sp>
        <p:nvSpPr>
          <p:cNvPr id="10" name="Freeform 10"/>
          <p:cNvSpPr/>
          <p:nvPr/>
        </p:nvSpPr>
        <p:spPr>
          <a:xfrm>
            <a:off x="16819259" y="2892422"/>
            <a:ext cx="2386734" cy="2386734"/>
          </a:xfrm>
          <a:custGeom>
            <a:avLst/>
            <a:gdLst/>
            <a:ahLst/>
            <a:cxnLst/>
            <a:rect l="l" t="t" r="r" b="b"/>
            <a:pathLst>
              <a:path w="2386734" h="2386734">
                <a:moveTo>
                  <a:pt x="0" y="0"/>
                </a:moveTo>
                <a:lnTo>
                  <a:pt x="2386733" y="0"/>
                </a:lnTo>
                <a:lnTo>
                  <a:pt x="2386733" y="2386734"/>
                </a:lnTo>
                <a:lnTo>
                  <a:pt x="0" y="23867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6819259" y="5536331"/>
            <a:ext cx="2386734" cy="2386734"/>
          </a:xfrm>
          <a:custGeom>
            <a:avLst/>
            <a:gdLst/>
            <a:ahLst/>
            <a:cxnLst/>
            <a:rect l="l" t="t" r="r" b="b"/>
            <a:pathLst>
              <a:path w="2386734" h="2386734">
                <a:moveTo>
                  <a:pt x="0" y="0"/>
                </a:moveTo>
                <a:lnTo>
                  <a:pt x="2386733" y="0"/>
                </a:lnTo>
                <a:lnTo>
                  <a:pt x="2386733" y="2386734"/>
                </a:lnTo>
                <a:lnTo>
                  <a:pt x="0" y="23867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684393" y="6233632"/>
            <a:ext cx="8106736" cy="8106736"/>
          </a:xfrm>
          <a:custGeom>
            <a:avLst/>
            <a:gdLst/>
            <a:ahLst/>
            <a:cxnLst/>
            <a:rect l="l" t="t" r="r" b="b"/>
            <a:pathLst>
              <a:path w="8106736" h="8106736">
                <a:moveTo>
                  <a:pt x="0" y="0"/>
                </a:moveTo>
                <a:lnTo>
                  <a:pt x="8106737" y="0"/>
                </a:lnTo>
                <a:lnTo>
                  <a:pt x="8106737" y="8106736"/>
                </a:lnTo>
                <a:lnTo>
                  <a:pt x="0" y="81067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704062" y="7410583"/>
            <a:ext cx="6067399" cy="4114800"/>
          </a:xfrm>
          <a:custGeom>
            <a:avLst/>
            <a:gdLst/>
            <a:ahLst/>
            <a:cxnLst/>
            <a:rect l="l" t="t" r="r" b="b"/>
            <a:pathLst>
              <a:path w="6067399" h="4114800">
                <a:moveTo>
                  <a:pt x="0" y="0"/>
                </a:moveTo>
                <a:lnTo>
                  <a:pt x="6067399" y="0"/>
                </a:lnTo>
                <a:lnTo>
                  <a:pt x="606739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729427" y="-1522231"/>
            <a:ext cx="5516254" cy="5516254"/>
          </a:xfrm>
          <a:custGeom>
            <a:avLst/>
            <a:gdLst/>
            <a:ahLst/>
            <a:cxnLst/>
            <a:rect l="l" t="t" r="r" b="b"/>
            <a:pathLst>
              <a:path w="5516254" h="5516254">
                <a:moveTo>
                  <a:pt x="0" y="0"/>
                </a:moveTo>
                <a:lnTo>
                  <a:pt x="5516254" y="0"/>
                </a:lnTo>
                <a:lnTo>
                  <a:pt x="5516254" y="5516254"/>
                </a:lnTo>
                <a:lnTo>
                  <a:pt x="0" y="55162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V="1">
            <a:off x="-561257" y="-1028700"/>
            <a:ext cx="6251768" cy="4114800"/>
          </a:xfrm>
          <a:custGeom>
            <a:avLst/>
            <a:gdLst/>
            <a:ahLst/>
            <a:cxnLst/>
            <a:rect l="l" t="t" r="r" b="b"/>
            <a:pathLst>
              <a:path w="6251768" h="4114800">
                <a:moveTo>
                  <a:pt x="0" y="4114800"/>
                </a:moveTo>
                <a:lnTo>
                  <a:pt x="6251768" y="4114800"/>
                </a:lnTo>
                <a:lnTo>
                  <a:pt x="625176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6819259" y="244257"/>
            <a:ext cx="2386734" cy="2386734"/>
          </a:xfrm>
          <a:custGeom>
            <a:avLst/>
            <a:gdLst/>
            <a:ahLst/>
            <a:cxnLst/>
            <a:rect l="l" t="t" r="r" b="b"/>
            <a:pathLst>
              <a:path w="2386734" h="2386734">
                <a:moveTo>
                  <a:pt x="0" y="0"/>
                </a:moveTo>
                <a:lnTo>
                  <a:pt x="2386733" y="0"/>
                </a:lnTo>
                <a:lnTo>
                  <a:pt x="2386733" y="2386733"/>
                </a:lnTo>
                <a:lnTo>
                  <a:pt x="0" y="2386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3352800" y="3527657"/>
            <a:ext cx="12540535" cy="1470787"/>
          </a:xfrm>
          <a:prstGeom prst="rect">
            <a:avLst/>
          </a:prstGeom>
        </p:spPr>
        <p:txBody>
          <a:bodyPr wrap="square"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Course Instructor</a:t>
            </a:r>
          </a:p>
        </p:txBody>
      </p:sp>
      <p:sp>
        <p:nvSpPr>
          <p:cNvPr id="9" name="TextBox 9"/>
          <p:cNvSpPr txBox="1"/>
          <p:nvPr/>
        </p:nvSpPr>
        <p:spPr>
          <a:xfrm>
            <a:off x="7543800" y="5536331"/>
            <a:ext cx="5946397" cy="579973"/>
          </a:xfrm>
          <a:prstGeom prst="rect">
            <a:avLst/>
          </a:prstGeom>
        </p:spPr>
        <p:txBody>
          <a:bodyPr lIns="0" tIns="0" rIns="0" bIns="0" rtlCol="0" anchor="t">
            <a:spAutoFit/>
          </a:bodyPr>
          <a:lstStyle/>
          <a:p>
            <a:pPr algn="l">
              <a:lnSpc>
                <a:spcPts val="4782"/>
              </a:lnSpc>
            </a:pPr>
            <a:r>
              <a:rPr lang="en-US" sz="3416" b="1" dirty="0">
                <a:solidFill>
                  <a:srgbClr val="343434"/>
                </a:solidFill>
                <a:latin typeface="Glacial Indifference Bold"/>
                <a:ea typeface="Glacial Indifference Bold"/>
                <a:cs typeface="Glacial Indifference Bold"/>
                <a:sym typeface="Glacial Indifference Bold"/>
              </a:rPr>
              <a:t>Ms. Ramsha Khalid </a:t>
            </a:r>
          </a:p>
        </p:txBody>
      </p:sp>
      <p:sp>
        <p:nvSpPr>
          <p:cNvPr id="10" name="Freeform 10"/>
          <p:cNvSpPr/>
          <p:nvPr/>
        </p:nvSpPr>
        <p:spPr>
          <a:xfrm>
            <a:off x="16819259" y="2892422"/>
            <a:ext cx="2386734" cy="2386734"/>
          </a:xfrm>
          <a:custGeom>
            <a:avLst/>
            <a:gdLst/>
            <a:ahLst/>
            <a:cxnLst/>
            <a:rect l="l" t="t" r="r" b="b"/>
            <a:pathLst>
              <a:path w="2386734" h="2386734">
                <a:moveTo>
                  <a:pt x="0" y="0"/>
                </a:moveTo>
                <a:lnTo>
                  <a:pt x="2386733" y="0"/>
                </a:lnTo>
                <a:lnTo>
                  <a:pt x="2386733" y="2386734"/>
                </a:lnTo>
                <a:lnTo>
                  <a:pt x="0" y="23867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5690511" y="6266566"/>
            <a:ext cx="11281460" cy="579973"/>
          </a:xfrm>
          <a:prstGeom prst="rect">
            <a:avLst/>
          </a:prstGeom>
        </p:spPr>
        <p:txBody>
          <a:bodyPr lIns="0" tIns="0" rIns="0" bIns="0" rtlCol="0" anchor="t">
            <a:spAutoFit/>
          </a:bodyPr>
          <a:lstStyle/>
          <a:p>
            <a:pPr algn="l">
              <a:lnSpc>
                <a:spcPts val="4782"/>
              </a:lnSpc>
            </a:pPr>
            <a:r>
              <a:rPr lang="en-US" sz="3416" dirty="0">
                <a:solidFill>
                  <a:srgbClr val="343434"/>
                </a:solidFill>
                <a:latin typeface="Glacial Indifference"/>
                <a:ea typeface="Glacial Indifference"/>
                <a:cs typeface="Glacial Indifference"/>
                <a:sym typeface="Glacial Indifference"/>
              </a:rPr>
              <a:t>Lecturer, Department of Computer Science</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876300" y="8262153"/>
            <a:ext cx="5115420" cy="5115420"/>
          </a:xfrm>
          <a:custGeom>
            <a:avLst/>
            <a:gdLst/>
            <a:ahLst/>
            <a:cxnLst/>
            <a:rect l="l" t="t" r="r" b="b"/>
            <a:pathLst>
              <a:path w="5115420" h="5115420">
                <a:moveTo>
                  <a:pt x="0" y="0"/>
                </a:moveTo>
                <a:lnTo>
                  <a:pt x="5115420" y="0"/>
                </a:lnTo>
                <a:lnTo>
                  <a:pt x="5115420" y="5115420"/>
                </a:lnTo>
                <a:lnTo>
                  <a:pt x="0" y="5115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3975434" y="2418898"/>
            <a:ext cx="9608356" cy="4070449"/>
          </a:xfrm>
          <a:custGeom>
            <a:avLst/>
            <a:gdLst/>
            <a:ahLst/>
            <a:cxnLst/>
            <a:rect l="l" t="t" r="r" b="b"/>
            <a:pathLst>
              <a:path w="9608356" h="4070449">
                <a:moveTo>
                  <a:pt x="0" y="0"/>
                </a:moveTo>
                <a:lnTo>
                  <a:pt x="9608356" y="0"/>
                </a:lnTo>
                <a:lnTo>
                  <a:pt x="9608356" y="4070449"/>
                </a:lnTo>
                <a:lnTo>
                  <a:pt x="0" y="40704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4219510" y="-997475"/>
            <a:ext cx="3846149" cy="2692304"/>
          </a:xfrm>
          <a:custGeom>
            <a:avLst/>
            <a:gdLst/>
            <a:ahLst/>
            <a:cxnLst/>
            <a:rect l="l" t="t" r="r" b="b"/>
            <a:pathLst>
              <a:path w="3846149" h="2692304">
                <a:moveTo>
                  <a:pt x="0" y="0"/>
                </a:moveTo>
                <a:lnTo>
                  <a:pt x="3846149" y="0"/>
                </a:lnTo>
                <a:lnTo>
                  <a:pt x="3846149" y="2692304"/>
                </a:lnTo>
                <a:lnTo>
                  <a:pt x="0" y="26923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576694" y="891586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4864281" y="1694829"/>
            <a:ext cx="8559438"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Overview</a:t>
            </a:r>
          </a:p>
        </p:txBody>
      </p:sp>
      <p:sp>
        <p:nvSpPr>
          <p:cNvPr id="8" name="TextBox 8"/>
          <p:cNvSpPr txBox="1"/>
          <p:nvPr/>
        </p:nvSpPr>
        <p:spPr>
          <a:xfrm>
            <a:off x="6992180" y="3314700"/>
            <a:ext cx="6466410" cy="6110647"/>
          </a:xfrm>
          <a:prstGeom prst="rect">
            <a:avLst/>
          </a:prstGeom>
        </p:spPr>
        <p:txBody>
          <a:bodyPr wrap="square" lIns="0" tIns="0" rIns="0" bIns="0" rtlCol="0" anchor="t">
            <a:spAutoFit/>
          </a:bodyPr>
          <a:lstStyle/>
          <a:p>
            <a:pPr marL="734055" lvl="1" indent="-367027" algn="just">
              <a:lnSpc>
                <a:spcPts val="4759"/>
              </a:lnSpc>
              <a:buFont typeface="Arial"/>
              <a:buChar char="•"/>
            </a:pPr>
            <a:r>
              <a:rPr lang="en-US" sz="3399" dirty="0">
                <a:solidFill>
                  <a:srgbClr val="343434"/>
                </a:solidFill>
                <a:latin typeface="Glacial Indifference"/>
                <a:ea typeface="Glacial Indifference"/>
                <a:cs typeface="Glacial Indifference"/>
                <a:sym typeface="Glacial Indifference"/>
              </a:rPr>
              <a:t>Introduction</a:t>
            </a:r>
          </a:p>
          <a:p>
            <a:pPr marL="734055" lvl="1" indent="-367027" algn="just">
              <a:lnSpc>
                <a:spcPts val="4759"/>
              </a:lnSpc>
              <a:buFont typeface="Arial"/>
              <a:buChar char="•"/>
            </a:pPr>
            <a:r>
              <a:rPr lang="en-US" sz="3399" dirty="0">
                <a:solidFill>
                  <a:srgbClr val="343434"/>
                </a:solidFill>
                <a:latin typeface="Glacial Indifference"/>
                <a:ea typeface="Glacial Indifference"/>
                <a:cs typeface="Glacial Indifference"/>
                <a:sym typeface="Glacial Indifference"/>
              </a:rPr>
              <a:t>Objectives</a:t>
            </a:r>
          </a:p>
          <a:p>
            <a:pPr marL="734055" lvl="1" indent="-367027" algn="just">
              <a:lnSpc>
                <a:spcPts val="4759"/>
              </a:lnSpc>
              <a:buFont typeface="Arial"/>
              <a:buChar char="•"/>
            </a:pPr>
            <a:r>
              <a:rPr lang="en-US" sz="3399" dirty="0">
                <a:solidFill>
                  <a:srgbClr val="343434"/>
                </a:solidFill>
                <a:latin typeface="Glacial Indifference"/>
                <a:ea typeface="Glacial Indifference"/>
                <a:cs typeface="Glacial Indifference"/>
                <a:sym typeface="Glacial Indifference"/>
              </a:rPr>
              <a:t>Demo Screenshots</a:t>
            </a:r>
          </a:p>
          <a:p>
            <a:pPr marL="734055" lvl="1" indent="-367027" algn="just">
              <a:lnSpc>
                <a:spcPts val="4759"/>
              </a:lnSpc>
              <a:buFont typeface="Arial"/>
              <a:buChar char="•"/>
            </a:pPr>
            <a:r>
              <a:rPr lang="en-US" sz="3399" dirty="0">
                <a:solidFill>
                  <a:srgbClr val="343434"/>
                </a:solidFill>
                <a:latin typeface="Glacial Indifference"/>
                <a:ea typeface="Glacial Indifference"/>
                <a:cs typeface="Glacial Indifference"/>
                <a:sym typeface="Glacial Indifference"/>
              </a:rPr>
              <a:t>Charts</a:t>
            </a:r>
          </a:p>
          <a:p>
            <a:pPr marL="734055" lvl="1" indent="-367027" algn="just">
              <a:lnSpc>
                <a:spcPts val="4759"/>
              </a:lnSpc>
              <a:buFont typeface="Arial"/>
              <a:buChar char="•"/>
            </a:pPr>
            <a:r>
              <a:rPr lang="en-US" sz="3399" dirty="0">
                <a:solidFill>
                  <a:srgbClr val="343434"/>
                </a:solidFill>
                <a:latin typeface="Glacial Indifference"/>
                <a:ea typeface="Glacial Indifference"/>
                <a:cs typeface="Glacial Indifference"/>
                <a:sym typeface="Glacial Indifference"/>
              </a:rPr>
              <a:t>Design and Decision</a:t>
            </a:r>
          </a:p>
          <a:p>
            <a:pPr marL="734055" lvl="1" indent="-367027" algn="just">
              <a:lnSpc>
                <a:spcPts val="4759"/>
              </a:lnSpc>
              <a:buFont typeface="Arial"/>
              <a:buChar char="•"/>
            </a:pPr>
            <a:r>
              <a:rPr lang="en-US" sz="3399" dirty="0">
                <a:solidFill>
                  <a:srgbClr val="343434"/>
                </a:solidFill>
                <a:latin typeface="Glacial Indifference"/>
                <a:ea typeface="Glacial Indifference"/>
                <a:cs typeface="Glacial Indifference"/>
                <a:sym typeface="Glacial Indifference"/>
              </a:rPr>
              <a:t>Resource Links</a:t>
            </a:r>
          </a:p>
          <a:p>
            <a:pPr marL="734055" lvl="1" indent="-367027" algn="just">
              <a:lnSpc>
                <a:spcPts val="4759"/>
              </a:lnSpc>
              <a:buFont typeface="Arial"/>
              <a:buChar char="•"/>
            </a:pPr>
            <a:r>
              <a:rPr lang="en-US" sz="3399" dirty="0">
                <a:solidFill>
                  <a:srgbClr val="343434"/>
                </a:solidFill>
                <a:latin typeface="Glacial Indifference"/>
                <a:ea typeface="Glacial Indifference"/>
                <a:cs typeface="Glacial Indifference"/>
                <a:sym typeface="Glacial Indifference"/>
              </a:rPr>
              <a:t>Reflection and Learning</a:t>
            </a:r>
          </a:p>
          <a:p>
            <a:pPr marL="734055" lvl="1" indent="-367027" algn="just">
              <a:lnSpc>
                <a:spcPts val="4759"/>
              </a:lnSpc>
              <a:buFont typeface="Arial"/>
              <a:buChar char="•"/>
            </a:pPr>
            <a:r>
              <a:rPr lang="en-US" sz="3399" dirty="0">
                <a:solidFill>
                  <a:srgbClr val="343434"/>
                </a:solidFill>
                <a:latin typeface="Glacial Indifference"/>
                <a:ea typeface="Glacial Indifference"/>
                <a:cs typeface="Glacial Indifference"/>
                <a:sym typeface="Glacial Indifference"/>
              </a:rPr>
              <a:t>Conclusion</a:t>
            </a:r>
          </a:p>
          <a:p>
            <a:pPr marL="734055" lvl="1" indent="-367027" algn="just">
              <a:lnSpc>
                <a:spcPts val="4759"/>
              </a:lnSpc>
              <a:buFont typeface="Arial"/>
              <a:buChar char="•"/>
            </a:pPr>
            <a:r>
              <a:rPr lang="en-US" sz="3399" dirty="0">
                <a:solidFill>
                  <a:srgbClr val="343434"/>
                </a:solidFill>
                <a:latin typeface="Glacial Indifference"/>
                <a:ea typeface="Glacial Indifference"/>
                <a:cs typeface="Glacial Indifference"/>
                <a:sym typeface="Glacial Indifference"/>
              </a:rPr>
              <a:t>Q/A </a:t>
            </a:r>
          </a:p>
          <a:p>
            <a:pPr algn="just">
              <a:lnSpc>
                <a:spcPts val="4759"/>
              </a:lnSpc>
            </a:pPr>
            <a:endParaRPr lang="en-US" sz="3399" dirty="0">
              <a:solidFill>
                <a:srgbClr val="343434"/>
              </a:solidFill>
              <a:latin typeface="Glacial Indifference"/>
              <a:ea typeface="Glacial Indifference"/>
              <a:cs typeface="Glacial Indifference"/>
              <a:sym typeface="Glacial Indifference"/>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2568867" y="-2561505"/>
            <a:ext cx="5513578" cy="5513578"/>
          </a:xfrm>
          <a:custGeom>
            <a:avLst/>
            <a:gdLst/>
            <a:ahLst/>
            <a:cxnLst/>
            <a:rect l="l" t="t" r="r" b="b"/>
            <a:pathLst>
              <a:path w="5513578" h="5513578">
                <a:moveTo>
                  <a:pt x="0" y="0"/>
                </a:moveTo>
                <a:lnTo>
                  <a:pt x="5513577" y="0"/>
                </a:lnTo>
                <a:lnTo>
                  <a:pt x="5513577" y="5513578"/>
                </a:lnTo>
                <a:lnTo>
                  <a:pt x="0" y="55135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5486400" y="6917360"/>
            <a:ext cx="7315200" cy="3657600"/>
          </a:xfrm>
          <a:custGeom>
            <a:avLst/>
            <a:gdLst/>
            <a:ahLst/>
            <a:cxnLst/>
            <a:rect l="l" t="t" r="r" b="b"/>
            <a:pathLst>
              <a:path w="7315200" h="3657600">
                <a:moveTo>
                  <a:pt x="0" y="3657600"/>
                </a:moveTo>
                <a:lnTo>
                  <a:pt x="7315200" y="3657600"/>
                </a:lnTo>
                <a:lnTo>
                  <a:pt x="7315200" y="0"/>
                </a:lnTo>
                <a:lnTo>
                  <a:pt x="0" y="0"/>
                </a:lnTo>
                <a:lnTo>
                  <a:pt x="0" y="36576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754637" y="9411617"/>
            <a:ext cx="3657600" cy="502920"/>
          </a:xfrm>
          <a:custGeom>
            <a:avLst/>
            <a:gdLst/>
            <a:ahLst/>
            <a:cxnLst/>
            <a:rect l="l" t="t" r="r" b="b"/>
            <a:pathLst>
              <a:path w="3657600" h="502920">
                <a:moveTo>
                  <a:pt x="0" y="0"/>
                </a:moveTo>
                <a:lnTo>
                  <a:pt x="3657600" y="0"/>
                </a:lnTo>
                <a:lnTo>
                  <a:pt x="3657600" y="502920"/>
                </a:lnTo>
                <a:lnTo>
                  <a:pt x="0" y="5029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3268255" y="-20574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214933" y="-345714"/>
            <a:ext cx="5083377" cy="1623107"/>
          </a:xfrm>
          <a:custGeom>
            <a:avLst/>
            <a:gdLst/>
            <a:ahLst/>
            <a:cxnLst/>
            <a:rect l="l" t="t" r="r" b="b"/>
            <a:pathLst>
              <a:path w="5083377" h="1623107">
                <a:moveTo>
                  <a:pt x="0" y="0"/>
                </a:moveTo>
                <a:lnTo>
                  <a:pt x="5083377" y="0"/>
                </a:lnTo>
                <a:lnTo>
                  <a:pt x="5083377" y="1623107"/>
                </a:lnTo>
                <a:lnTo>
                  <a:pt x="0" y="162310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1066799" y="3437973"/>
            <a:ext cx="16810976"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Introduction </a:t>
            </a:r>
          </a:p>
        </p:txBody>
      </p:sp>
      <p:sp>
        <p:nvSpPr>
          <p:cNvPr id="8" name="TextBox 8"/>
          <p:cNvSpPr txBox="1"/>
          <p:nvPr/>
        </p:nvSpPr>
        <p:spPr>
          <a:xfrm>
            <a:off x="7936239" y="5290394"/>
            <a:ext cx="3072097" cy="580390"/>
          </a:xfrm>
          <a:prstGeom prst="rect">
            <a:avLst/>
          </a:prstGeom>
        </p:spPr>
        <p:txBody>
          <a:bodyPr lIns="0" tIns="0" rIns="0" bIns="0" rtlCol="0" anchor="t">
            <a:spAutoFit/>
          </a:bodyPr>
          <a:lstStyle/>
          <a:p>
            <a:pPr algn="just">
              <a:lnSpc>
                <a:spcPts val="4759"/>
              </a:lnSpc>
            </a:pPr>
            <a:r>
              <a:rPr lang="en-US" sz="3399" dirty="0">
                <a:solidFill>
                  <a:srgbClr val="343434"/>
                </a:solidFill>
                <a:latin typeface="Glacial Indifference"/>
                <a:ea typeface="Glacial Indifference"/>
                <a:cs typeface="Glacial Indifference"/>
                <a:sym typeface="Glacial Indifference"/>
              </a:rPr>
              <a:t> The Bottlenecks</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flipH="1" flipV="1">
            <a:off x="-281714" y="-1089929"/>
            <a:ext cx="6629145" cy="3784639"/>
          </a:xfrm>
          <a:custGeom>
            <a:avLst/>
            <a:gdLst/>
            <a:ahLst/>
            <a:cxnLst/>
            <a:rect l="l" t="t" r="r" b="b"/>
            <a:pathLst>
              <a:path w="6629145" h="3784639">
                <a:moveTo>
                  <a:pt x="6629144" y="3784639"/>
                </a:moveTo>
                <a:lnTo>
                  <a:pt x="0" y="3784639"/>
                </a:lnTo>
                <a:lnTo>
                  <a:pt x="0" y="0"/>
                </a:lnTo>
                <a:lnTo>
                  <a:pt x="6629144" y="0"/>
                </a:lnTo>
                <a:lnTo>
                  <a:pt x="6629144" y="378463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37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316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395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9474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0668000" y="4681753"/>
            <a:ext cx="7182742" cy="2178765"/>
          </a:xfrm>
          <a:custGeom>
            <a:avLst/>
            <a:gdLst/>
            <a:ahLst/>
            <a:cxnLst/>
            <a:rect l="l" t="t" r="r" b="b"/>
            <a:pathLst>
              <a:path w="7182742" h="2178765">
                <a:moveTo>
                  <a:pt x="0" y="0"/>
                </a:moveTo>
                <a:lnTo>
                  <a:pt x="7182742" y="0"/>
                </a:lnTo>
                <a:lnTo>
                  <a:pt x="7182742" y="2178765"/>
                </a:lnTo>
                <a:lnTo>
                  <a:pt x="0" y="2178765"/>
                </a:lnTo>
                <a:lnTo>
                  <a:pt x="0" y="0"/>
                </a:lnTo>
                <a:close/>
              </a:path>
            </a:pathLst>
          </a:custGeom>
          <a:blipFill>
            <a:blip r:embed="rId6"/>
            <a:stretch>
              <a:fillRect/>
            </a:stretch>
          </a:blipFill>
        </p:spPr>
        <p:txBody>
          <a:bodyPr/>
          <a:lstStyle/>
          <a:p>
            <a:endParaRPr lang="en-US" dirty="0"/>
          </a:p>
        </p:txBody>
      </p:sp>
      <p:sp>
        <p:nvSpPr>
          <p:cNvPr id="8" name="TextBox 8"/>
          <p:cNvSpPr txBox="1"/>
          <p:nvPr/>
        </p:nvSpPr>
        <p:spPr>
          <a:xfrm>
            <a:off x="609600" y="3595427"/>
            <a:ext cx="9579552" cy="5033645"/>
          </a:xfrm>
          <a:prstGeom prst="rect">
            <a:avLst/>
          </a:prstGeom>
        </p:spPr>
        <p:txBody>
          <a:bodyPr lIns="0" tIns="0" rIns="0" bIns="0" rtlCol="0" anchor="t">
            <a:spAutoFit/>
          </a:bodyPr>
          <a:lstStyle/>
          <a:p>
            <a:pPr marL="690881" lvl="1" indent="-345440" algn="just">
              <a:lnSpc>
                <a:spcPts val="4480"/>
              </a:lnSpc>
              <a:buFont typeface="Arial"/>
              <a:buChar char="•"/>
            </a:pPr>
            <a:r>
              <a:rPr lang="en-US" sz="3200" dirty="0" err="1">
                <a:solidFill>
                  <a:srgbClr val="343434"/>
                </a:solidFill>
                <a:latin typeface="Glacial Indifference"/>
                <a:ea typeface="Glacial Indifference"/>
                <a:cs typeface="Glacial Indifference"/>
                <a:sym typeface="Glacial Indifference"/>
              </a:rPr>
              <a:t>Botalyze</a:t>
            </a:r>
            <a:r>
              <a:rPr lang="en-US" sz="3200" dirty="0">
                <a:solidFill>
                  <a:srgbClr val="343434"/>
                </a:solidFill>
                <a:latin typeface="Glacial Indifference"/>
                <a:ea typeface="Glacial Indifference"/>
                <a:cs typeface="Glacial Indifference"/>
                <a:sym typeface="Glacial Indifference"/>
              </a:rPr>
              <a:t> is an AI-powered voice agent designed specifically for the hotel industry.</a:t>
            </a:r>
          </a:p>
          <a:p>
            <a:pPr algn="just">
              <a:lnSpc>
                <a:spcPts val="4480"/>
              </a:lnSpc>
            </a:pPr>
            <a:endParaRPr lang="en-US" sz="3200" dirty="0">
              <a:solidFill>
                <a:srgbClr val="343434"/>
              </a:solidFill>
              <a:latin typeface="Glacial Indifference"/>
              <a:ea typeface="Glacial Indifference"/>
              <a:cs typeface="Glacial Indifference"/>
              <a:sym typeface="Glacial Indifference"/>
            </a:endParaRPr>
          </a:p>
          <a:p>
            <a:pPr marL="690881" lvl="1" indent="-345440" algn="just">
              <a:lnSpc>
                <a:spcPts val="4480"/>
              </a:lnSpc>
              <a:buFont typeface="Arial"/>
              <a:buChar char="•"/>
            </a:pPr>
            <a:r>
              <a:rPr lang="en-US" sz="3200" dirty="0">
                <a:solidFill>
                  <a:srgbClr val="343434"/>
                </a:solidFill>
                <a:latin typeface="Glacial Indifference"/>
                <a:ea typeface="Glacial Indifference"/>
                <a:cs typeface="Glacial Indifference"/>
                <a:sym typeface="Glacial Indifference"/>
              </a:rPr>
              <a:t>It automatically handles incoming calls, guest inquiries, and booking requests 24/7.</a:t>
            </a:r>
          </a:p>
          <a:p>
            <a:pPr algn="just">
              <a:lnSpc>
                <a:spcPts val="4480"/>
              </a:lnSpc>
            </a:pPr>
            <a:endParaRPr lang="en-US" sz="3200" dirty="0">
              <a:solidFill>
                <a:srgbClr val="343434"/>
              </a:solidFill>
              <a:latin typeface="Glacial Indifference"/>
              <a:ea typeface="Glacial Indifference"/>
              <a:cs typeface="Glacial Indifference"/>
              <a:sym typeface="Glacial Indifference"/>
            </a:endParaRPr>
          </a:p>
          <a:p>
            <a:pPr marL="690881" lvl="1" indent="-345440" algn="just">
              <a:lnSpc>
                <a:spcPts val="4480"/>
              </a:lnSpc>
              <a:buFont typeface="Arial"/>
              <a:buChar char="•"/>
            </a:pPr>
            <a:r>
              <a:rPr lang="en-US" sz="3200" dirty="0">
                <a:solidFill>
                  <a:srgbClr val="343434"/>
                </a:solidFill>
                <a:latin typeface="Glacial Indifference"/>
                <a:ea typeface="Glacial Indifference"/>
                <a:cs typeface="Glacial Indifference"/>
                <a:sym typeface="Glacial Indifference"/>
              </a:rPr>
              <a:t>The system reduces missed calls and eases staff workload during busy hours.</a:t>
            </a:r>
          </a:p>
          <a:p>
            <a:pPr algn="just">
              <a:lnSpc>
                <a:spcPts val="4480"/>
              </a:lnSpc>
            </a:pPr>
            <a:endParaRPr lang="en-US" sz="3200" dirty="0">
              <a:solidFill>
                <a:srgbClr val="343434"/>
              </a:solidFill>
              <a:latin typeface="Glacial Indifference"/>
              <a:ea typeface="Glacial Indifference"/>
              <a:cs typeface="Glacial Indifference"/>
              <a:sym typeface="Glacial Indifference"/>
            </a:endParaRPr>
          </a:p>
        </p:txBody>
      </p:sp>
      <p:sp>
        <p:nvSpPr>
          <p:cNvPr id="9" name="TextBox 9"/>
          <p:cNvSpPr txBox="1"/>
          <p:nvPr/>
        </p:nvSpPr>
        <p:spPr>
          <a:xfrm>
            <a:off x="3321642" y="1071963"/>
            <a:ext cx="13106293" cy="2720697"/>
          </a:xfrm>
          <a:prstGeom prst="rect">
            <a:avLst/>
          </a:prstGeom>
        </p:spPr>
        <p:txBody>
          <a:bodyPr lIns="0" tIns="0" rIns="0" bIns="0" rtlCol="0" anchor="t">
            <a:spAutoFit/>
          </a:bodyPr>
          <a:lstStyle/>
          <a:p>
            <a:pPr algn="ctr">
              <a:lnSpc>
                <a:spcPts val="10939"/>
              </a:lnSpc>
            </a:pPr>
            <a:r>
              <a:rPr lang="en-US" sz="7813" dirty="0">
                <a:solidFill>
                  <a:srgbClr val="343434"/>
                </a:solidFill>
                <a:latin typeface="Candal"/>
                <a:ea typeface="Candal"/>
                <a:cs typeface="Candal"/>
                <a:sym typeface="Candal"/>
              </a:rPr>
              <a:t>What is </a:t>
            </a:r>
            <a:r>
              <a:rPr lang="en-US" sz="7813" dirty="0" err="1">
                <a:solidFill>
                  <a:srgbClr val="343434"/>
                </a:solidFill>
                <a:latin typeface="Candal"/>
                <a:ea typeface="Candal"/>
                <a:cs typeface="Candal"/>
                <a:sym typeface="Candal"/>
              </a:rPr>
              <a:t>Botalyze</a:t>
            </a:r>
            <a:r>
              <a:rPr lang="en-US" sz="7813" dirty="0">
                <a:solidFill>
                  <a:srgbClr val="343434"/>
                </a:solidFill>
                <a:latin typeface="Candal"/>
                <a:ea typeface="Candal"/>
                <a:cs typeface="Candal"/>
                <a:sym typeface="Candal"/>
              </a:rPr>
              <a:t> ?</a:t>
            </a:r>
          </a:p>
          <a:p>
            <a:pPr algn="ctr">
              <a:lnSpc>
                <a:spcPts val="10939"/>
              </a:lnSpc>
            </a:pPr>
            <a:endParaRPr lang="en-US" sz="7813" dirty="0">
              <a:solidFill>
                <a:srgbClr val="343434"/>
              </a:solidFill>
              <a:latin typeface="Candal"/>
              <a:ea typeface="Candal"/>
              <a:cs typeface="Candal"/>
              <a:sym typeface="Cand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209550" y="7500153"/>
            <a:ext cx="5115420" cy="5115420"/>
          </a:xfrm>
          <a:custGeom>
            <a:avLst/>
            <a:gdLst/>
            <a:ahLst/>
            <a:cxnLst/>
            <a:rect l="l" t="t" r="r" b="b"/>
            <a:pathLst>
              <a:path w="5115420" h="5115420">
                <a:moveTo>
                  <a:pt x="0" y="0"/>
                </a:moveTo>
                <a:lnTo>
                  <a:pt x="5115420" y="0"/>
                </a:lnTo>
                <a:lnTo>
                  <a:pt x="5115420" y="5115420"/>
                </a:lnTo>
                <a:lnTo>
                  <a:pt x="0" y="5115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3594434" y="2418898"/>
            <a:ext cx="9608356" cy="4070449"/>
          </a:xfrm>
          <a:custGeom>
            <a:avLst/>
            <a:gdLst/>
            <a:ahLst/>
            <a:cxnLst/>
            <a:rect l="l" t="t" r="r" b="b"/>
            <a:pathLst>
              <a:path w="9608356" h="4070449">
                <a:moveTo>
                  <a:pt x="0" y="0"/>
                </a:moveTo>
                <a:lnTo>
                  <a:pt x="9608356" y="0"/>
                </a:lnTo>
                <a:lnTo>
                  <a:pt x="9608356" y="4070449"/>
                </a:lnTo>
                <a:lnTo>
                  <a:pt x="0" y="40704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172010" y="-997475"/>
            <a:ext cx="3846149" cy="2692304"/>
          </a:xfrm>
          <a:custGeom>
            <a:avLst/>
            <a:gdLst/>
            <a:ahLst/>
            <a:cxnLst/>
            <a:rect l="l" t="t" r="r" b="b"/>
            <a:pathLst>
              <a:path w="3846149" h="2692304">
                <a:moveTo>
                  <a:pt x="0" y="0"/>
                </a:moveTo>
                <a:lnTo>
                  <a:pt x="3846149" y="0"/>
                </a:lnTo>
                <a:lnTo>
                  <a:pt x="3846149" y="2692304"/>
                </a:lnTo>
                <a:lnTo>
                  <a:pt x="0" y="26923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85306" y="834834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3414323" y="847725"/>
            <a:ext cx="11880533"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Objectives</a:t>
            </a:r>
          </a:p>
        </p:txBody>
      </p:sp>
      <p:sp>
        <p:nvSpPr>
          <p:cNvPr id="7" name="TextBox 7"/>
          <p:cNvSpPr txBox="1"/>
          <p:nvPr/>
        </p:nvSpPr>
        <p:spPr>
          <a:xfrm>
            <a:off x="3245668" y="3513494"/>
            <a:ext cx="13849417" cy="4471670"/>
          </a:xfrm>
          <a:prstGeom prst="rect">
            <a:avLst/>
          </a:prstGeom>
        </p:spPr>
        <p:txBody>
          <a:bodyPr lIns="0" tIns="0" rIns="0" bIns="0" rtlCol="0" anchor="t">
            <a:spAutoFit/>
          </a:bodyPr>
          <a:lstStyle/>
          <a:p>
            <a:pPr marL="690881" lvl="1" indent="-345440" algn="just">
              <a:lnSpc>
                <a:spcPts val="4480"/>
              </a:lnSpc>
              <a:buFont typeface="Arial"/>
              <a:buChar char="•"/>
            </a:pPr>
            <a:r>
              <a:rPr lang="en-US" sz="3200" b="1" dirty="0">
                <a:solidFill>
                  <a:srgbClr val="343434"/>
                </a:solidFill>
                <a:latin typeface="Glacial Indifference Bold"/>
                <a:ea typeface="Glacial Indifference Bold"/>
                <a:cs typeface="Glacial Indifference Bold"/>
                <a:sym typeface="Glacial Indifference Bold"/>
              </a:rPr>
              <a:t>Automate Booking</a:t>
            </a:r>
            <a:r>
              <a:rPr lang="en-US" sz="3200" dirty="0">
                <a:solidFill>
                  <a:srgbClr val="343434"/>
                </a:solidFill>
                <a:latin typeface="Glacial Indifference"/>
                <a:ea typeface="Glacial Indifference"/>
                <a:cs typeface="Glacial Indifference"/>
                <a:sym typeface="Glacial Indifference"/>
              </a:rPr>
              <a:t>: Seamlessly handle reservations and inquiries using advanced AI voice agents.</a:t>
            </a:r>
          </a:p>
          <a:p>
            <a:pPr marL="690881" lvl="1" indent="-345440" algn="just">
              <a:lnSpc>
                <a:spcPts val="4480"/>
              </a:lnSpc>
              <a:buFont typeface="Arial"/>
              <a:buChar char="•"/>
            </a:pPr>
            <a:r>
              <a:rPr lang="en-US" sz="3200" b="1" dirty="0">
                <a:solidFill>
                  <a:srgbClr val="343434"/>
                </a:solidFill>
                <a:latin typeface="Glacial Indifference Bold"/>
                <a:ea typeface="Glacial Indifference Bold"/>
                <a:cs typeface="Glacial Indifference Bold"/>
                <a:sym typeface="Glacial Indifference Bold"/>
              </a:rPr>
              <a:t>24/7 Customer Support: </a:t>
            </a:r>
            <a:r>
              <a:rPr lang="en-US" sz="3200" dirty="0">
                <a:solidFill>
                  <a:srgbClr val="343434"/>
                </a:solidFill>
                <a:latin typeface="Glacial Indifference"/>
                <a:ea typeface="Glacial Indifference"/>
                <a:cs typeface="Glacial Indifference"/>
                <a:sym typeface="Glacial Indifference"/>
              </a:rPr>
              <a:t>Provide uninterrupted service and instant responses around the clock.</a:t>
            </a:r>
          </a:p>
          <a:p>
            <a:pPr marL="690881" lvl="1" indent="-345440" algn="just">
              <a:lnSpc>
                <a:spcPts val="4480"/>
              </a:lnSpc>
              <a:buFont typeface="Arial"/>
              <a:buChar char="•"/>
            </a:pPr>
            <a:r>
              <a:rPr lang="en-US" sz="3200" b="1" dirty="0">
                <a:solidFill>
                  <a:srgbClr val="343434"/>
                </a:solidFill>
                <a:latin typeface="Glacial Indifference Bold"/>
                <a:ea typeface="Glacial Indifference Bold"/>
                <a:cs typeface="Glacial Indifference Bold"/>
                <a:sym typeface="Glacial Indifference Bold"/>
              </a:rPr>
              <a:t>Integrate Platforms: </a:t>
            </a:r>
            <a:r>
              <a:rPr lang="en-US" sz="3200" dirty="0">
                <a:solidFill>
                  <a:srgbClr val="343434"/>
                </a:solidFill>
                <a:latin typeface="Glacial Indifference"/>
                <a:ea typeface="Glacial Indifference"/>
                <a:cs typeface="Glacial Indifference"/>
                <a:sym typeface="Glacial Indifference"/>
              </a:rPr>
              <a:t>Connect effortlessly with existing hospitality booking systems for unified operations.</a:t>
            </a:r>
          </a:p>
          <a:p>
            <a:pPr marL="690881" lvl="1" indent="-345440" algn="just">
              <a:lnSpc>
                <a:spcPts val="4480"/>
              </a:lnSpc>
              <a:buFont typeface="Arial"/>
              <a:buChar char="•"/>
            </a:pPr>
            <a:r>
              <a:rPr lang="en-US" sz="3200" b="1" dirty="0">
                <a:solidFill>
                  <a:srgbClr val="343434"/>
                </a:solidFill>
                <a:latin typeface="Glacial Indifference Bold"/>
                <a:ea typeface="Glacial Indifference Bold"/>
                <a:cs typeface="Glacial Indifference Bold"/>
                <a:sym typeface="Glacial Indifference Bold"/>
              </a:rPr>
              <a:t>Reduce Staff Workload:</a:t>
            </a:r>
            <a:r>
              <a:rPr lang="en-US" sz="3200" dirty="0">
                <a:solidFill>
                  <a:srgbClr val="343434"/>
                </a:solidFill>
                <a:latin typeface="Glacial Indifference"/>
                <a:ea typeface="Glacial Indifference"/>
                <a:cs typeface="Glacial Indifference"/>
                <a:sym typeface="Glacial Indifference"/>
              </a:rPr>
              <a:t> Free up valuable human resources by delegating routine tasks to AI.</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4037230" y="61722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460744" y="12966"/>
            <a:ext cx="4982245" cy="4464824"/>
          </a:xfrm>
          <a:custGeom>
            <a:avLst/>
            <a:gdLst/>
            <a:ahLst/>
            <a:cxnLst/>
            <a:rect l="l" t="t" r="r" b="b"/>
            <a:pathLst>
              <a:path w="4982245" h="4464824">
                <a:moveTo>
                  <a:pt x="0" y="0"/>
                </a:moveTo>
                <a:lnTo>
                  <a:pt x="4982245" y="0"/>
                </a:lnTo>
                <a:lnTo>
                  <a:pt x="4982245" y="4464823"/>
                </a:lnTo>
                <a:lnTo>
                  <a:pt x="0" y="4464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2699747" y="4268823"/>
            <a:ext cx="6860854" cy="6087449"/>
          </a:xfrm>
          <a:custGeom>
            <a:avLst/>
            <a:gdLst/>
            <a:ahLst/>
            <a:cxnLst/>
            <a:rect l="l" t="t" r="r" b="b"/>
            <a:pathLst>
              <a:path w="6860854" h="6087449">
                <a:moveTo>
                  <a:pt x="0" y="0"/>
                </a:moveTo>
                <a:lnTo>
                  <a:pt x="6860854" y="0"/>
                </a:lnTo>
                <a:lnTo>
                  <a:pt x="6860854" y="6087449"/>
                </a:lnTo>
                <a:lnTo>
                  <a:pt x="0" y="60874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0836830" y="-721995"/>
            <a:ext cx="7315200" cy="2834640"/>
          </a:xfrm>
          <a:custGeom>
            <a:avLst/>
            <a:gdLst/>
            <a:ahLst/>
            <a:cxnLst/>
            <a:rect l="l" t="t" r="r" b="b"/>
            <a:pathLst>
              <a:path w="7315200" h="2834640">
                <a:moveTo>
                  <a:pt x="0" y="0"/>
                </a:moveTo>
                <a:lnTo>
                  <a:pt x="7315200" y="0"/>
                </a:lnTo>
                <a:lnTo>
                  <a:pt x="7315200" y="2834640"/>
                </a:lnTo>
                <a:lnTo>
                  <a:pt x="0" y="28346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4842589" y="6899916"/>
            <a:ext cx="4017541" cy="4114800"/>
          </a:xfrm>
          <a:custGeom>
            <a:avLst/>
            <a:gdLst/>
            <a:ahLst/>
            <a:cxnLst/>
            <a:rect l="l" t="t" r="r" b="b"/>
            <a:pathLst>
              <a:path w="4017541" h="4114800">
                <a:moveTo>
                  <a:pt x="0" y="0"/>
                </a:moveTo>
                <a:lnTo>
                  <a:pt x="4017541" y="0"/>
                </a:lnTo>
                <a:lnTo>
                  <a:pt x="401754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7644458" y="6722314"/>
            <a:ext cx="5208884" cy="1180465"/>
          </a:xfrm>
          <a:prstGeom prst="rect">
            <a:avLst/>
          </a:prstGeom>
        </p:spPr>
        <p:txBody>
          <a:bodyPr lIns="0" tIns="0" rIns="0" bIns="0" rtlCol="0" anchor="t">
            <a:spAutoFit/>
          </a:bodyPr>
          <a:lstStyle/>
          <a:p>
            <a:pPr algn="just">
              <a:lnSpc>
                <a:spcPts val="4759"/>
              </a:lnSpc>
            </a:pPr>
            <a:r>
              <a:rPr lang="en-US" sz="3399" dirty="0">
                <a:solidFill>
                  <a:srgbClr val="343434"/>
                </a:solidFill>
                <a:latin typeface="Glacial Indifference"/>
                <a:ea typeface="Glacial Indifference"/>
                <a:cs typeface="Glacial Indifference"/>
                <a:sym typeface="Glacial Indifference"/>
              </a:rPr>
              <a:t>Redefining with AI</a:t>
            </a:r>
          </a:p>
          <a:p>
            <a:pPr algn="just">
              <a:lnSpc>
                <a:spcPts val="4759"/>
              </a:lnSpc>
            </a:pPr>
            <a:endParaRPr lang="en-US" sz="3399" dirty="0">
              <a:solidFill>
                <a:srgbClr val="343434"/>
              </a:solidFill>
              <a:latin typeface="Glacial Indifference"/>
              <a:ea typeface="Glacial Indifference"/>
              <a:cs typeface="Glacial Indifference"/>
              <a:sym typeface="Glacial Indifference"/>
            </a:endParaRPr>
          </a:p>
        </p:txBody>
      </p:sp>
      <p:sp>
        <p:nvSpPr>
          <p:cNvPr id="8" name="TextBox 8"/>
          <p:cNvSpPr txBox="1"/>
          <p:nvPr/>
        </p:nvSpPr>
        <p:spPr>
          <a:xfrm>
            <a:off x="2209800" y="3732799"/>
            <a:ext cx="14513595" cy="4142047"/>
          </a:xfrm>
          <a:prstGeom prst="rect">
            <a:avLst/>
          </a:prstGeom>
        </p:spPr>
        <p:txBody>
          <a:bodyPr lIns="0" tIns="0" rIns="0" bIns="0" rtlCol="0" anchor="t">
            <a:spAutoFit/>
          </a:bodyPr>
          <a:lstStyle/>
          <a:p>
            <a:pPr algn="ctr">
              <a:lnSpc>
                <a:spcPts val="11098"/>
              </a:lnSpc>
            </a:pPr>
            <a:r>
              <a:rPr lang="en-US" sz="7927" dirty="0">
                <a:solidFill>
                  <a:srgbClr val="343434"/>
                </a:solidFill>
                <a:latin typeface="Candal"/>
                <a:ea typeface="Candal"/>
                <a:cs typeface="Candal"/>
                <a:sym typeface="Candal"/>
              </a:rPr>
              <a:t>Addressing Key Industry Challenges</a:t>
            </a:r>
          </a:p>
          <a:p>
            <a:pPr algn="ctr">
              <a:lnSpc>
                <a:spcPts val="11098"/>
              </a:lnSpc>
            </a:pPr>
            <a:endParaRPr lang="en-US" sz="7927" dirty="0">
              <a:solidFill>
                <a:srgbClr val="343434"/>
              </a:solidFill>
              <a:latin typeface="Candal"/>
              <a:ea typeface="Candal"/>
              <a:cs typeface="Candal"/>
              <a:sym typeface="Candal"/>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flipH="1" flipV="1">
            <a:off x="-281714" y="-232679"/>
            <a:ext cx="6629145" cy="3784639"/>
          </a:xfrm>
          <a:custGeom>
            <a:avLst/>
            <a:gdLst/>
            <a:ahLst/>
            <a:cxnLst/>
            <a:rect l="l" t="t" r="r" b="b"/>
            <a:pathLst>
              <a:path w="6629145" h="3784639">
                <a:moveTo>
                  <a:pt x="6629144" y="3784639"/>
                </a:moveTo>
                <a:lnTo>
                  <a:pt x="0" y="3784639"/>
                </a:lnTo>
                <a:lnTo>
                  <a:pt x="0" y="0"/>
                </a:lnTo>
                <a:lnTo>
                  <a:pt x="6629144" y="0"/>
                </a:lnTo>
                <a:lnTo>
                  <a:pt x="6629144" y="378463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37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316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395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9474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2281393" y="2824478"/>
            <a:ext cx="5576160" cy="6161657"/>
          </a:xfrm>
          <a:custGeom>
            <a:avLst/>
            <a:gdLst/>
            <a:ahLst/>
            <a:cxnLst/>
            <a:rect l="l" t="t" r="r" b="b"/>
            <a:pathLst>
              <a:path w="5576160" h="6161657">
                <a:moveTo>
                  <a:pt x="0" y="0"/>
                </a:moveTo>
                <a:lnTo>
                  <a:pt x="5576160" y="0"/>
                </a:lnTo>
                <a:lnTo>
                  <a:pt x="5576160" y="6161657"/>
                </a:lnTo>
                <a:lnTo>
                  <a:pt x="0" y="6161657"/>
                </a:lnTo>
                <a:lnTo>
                  <a:pt x="0" y="0"/>
                </a:lnTo>
                <a:close/>
              </a:path>
            </a:pathLst>
          </a:custGeom>
          <a:blipFill>
            <a:blip r:embed="rId6"/>
            <a:stretch>
              <a:fillRect/>
            </a:stretch>
          </a:blipFill>
        </p:spPr>
      </p:sp>
      <p:sp>
        <p:nvSpPr>
          <p:cNvPr id="8" name="TextBox 8"/>
          <p:cNvSpPr txBox="1"/>
          <p:nvPr/>
        </p:nvSpPr>
        <p:spPr>
          <a:xfrm>
            <a:off x="772726" y="4215098"/>
            <a:ext cx="14637488" cy="4791075"/>
          </a:xfrm>
          <a:prstGeom prst="rect">
            <a:avLst/>
          </a:prstGeom>
        </p:spPr>
        <p:txBody>
          <a:bodyPr lIns="0" tIns="0" rIns="0" bIns="0" rtlCol="0" anchor="t">
            <a:spAutoFit/>
          </a:bodyPr>
          <a:lstStyle/>
          <a:p>
            <a:pPr marL="647702" lvl="1" indent="-323851" algn="l">
              <a:lnSpc>
                <a:spcPts val="4200"/>
              </a:lnSpc>
              <a:buFont typeface="Arial"/>
              <a:buChar char="•"/>
            </a:pPr>
            <a:r>
              <a:rPr lang="en-US" sz="3000" dirty="0">
                <a:solidFill>
                  <a:srgbClr val="343434"/>
                </a:solidFill>
                <a:latin typeface="Glacial Indifference"/>
                <a:ea typeface="Glacial Indifference"/>
                <a:cs typeface="Glacial Indifference"/>
                <a:sym typeface="Glacial Indifference"/>
              </a:rPr>
              <a:t>Missed booking opportunities due to unanswered calls.</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l">
              <a:lnSpc>
                <a:spcPts val="4200"/>
              </a:lnSpc>
              <a:buFont typeface="Arial"/>
              <a:buChar char="•"/>
            </a:pPr>
            <a:r>
              <a:rPr lang="en-US" sz="3000" dirty="0">
                <a:solidFill>
                  <a:srgbClr val="343434"/>
                </a:solidFill>
                <a:latin typeface="Glacial Indifference"/>
                <a:ea typeface="Glacial Indifference"/>
                <a:cs typeface="Glacial Indifference"/>
                <a:sym typeface="Glacial Indifference"/>
              </a:rPr>
              <a:t>Manual handling of inquiries during peak operational hours.</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l">
              <a:lnSpc>
                <a:spcPts val="4200"/>
              </a:lnSpc>
              <a:buFont typeface="Arial"/>
              <a:buChar char="•"/>
            </a:pPr>
            <a:r>
              <a:rPr lang="en-US" sz="3000" dirty="0">
                <a:solidFill>
                  <a:srgbClr val="343434"/>
                </a:solidFill>
                <a:latin typeface="Glacial Indifference"/>
                <a:ea typeface="Glacial Indifference"/>
                <a:cs typeface="Glacial Indifference"/>
                <a:sym typeface="Glacial Indifference"/>
              </a:rPr>
              <a:t>Human errors in data entry and reservation management.</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l">
              <a:lnSpc>
                <a:spcPts val="4200"/>
              </a:lnSpc>
              <a:buFont typeface="Arial"/>
              <a:buChar char="•"/>
            </a:pPr>
            <a:r>
              <a:rPr lang="en-US" sz="3000" dirty="0">
                <a:solidFill>
                  <a:srgbClr val="343434"/>
                </a:solidFill>
                <a:latin typeface="Glacial Indifference"/>
                <a:ea typeface="Glacial Indifference"/>
                <a:cs typeface="Glacial Indifference"/>
                <a:sym typeface="Glacial Indifference"/>
              </a:rPr>
              <a:t>Lack of scalable automation for small to medium-sized businesses.</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p:txBody>
      </p:sp>
      <p:sp>
        <p:nvSpPr>
          <p:cNvPr id="9" name="TextBox 9"/>
          <p:cNvSpPr txBox="1"/>
          <p:nvPr/>
        </p:nvSpPr>
        <p:spPr>
          <a:xfrm>
            <a:off x="4521363" y="642807"/>
            <a:ext cx="9906379" cy="3165149"/>
          </a:xfrm>
          <a:prstGeom prst="rect">
            <a:avLst/>
          </a:prstGeom>
        </p:spPr>
        <p:txBody>
          <a:bodyPr lIns="0" tIns="0" rIns="0" bIns="0" rtlCol="0" anchor="t">
            <a:spAutoFit/>
          </a:bodyPr>
          <a:lstStyle/>
          <a:p>
            <a:pPr algn="ctr">
              <a:lnSpc>
                <a:spcPts val="12792"/>
              </a:lnSpc>
            </a:pPr>
            <a:r>
              <a:rPr lang="en-US" sz="9137" dirty="0">
                <a:solidFill>
                  <a:srgbClr val="343434"/>
                </a:solidFill>
                <a:latin typeface="Candal"/>
                <a:ea typeface="Candal"/>
                <a:cs typeface="Candal"/>
                <a:sym typeface="Candal"/>
              </a:rPr>
              <a:t>Common Pain Points</a:t>
            </a:r>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flipH="1" flipV="1">
            <a:off x="-281714" y="-232679"/>
            <a:ext cx="6629145" cy="3784639"/>
          </a:xfrm>
          <a:custGeom>
            <a:avLst/>
            <a:gdLst/>
            <a:ahLst/>
            <a:cxnLst/>
            <a:rect l="l" t="t" r="r" b="b"/>
            <a:pathLst>
              <a:path w="6629145" h="3784639">
                <a:moveTo>
                  <a:pt x="6629144" y="3784639"/>
                </a:moveTo>
                <a:lnTo>
                  <a:pt x="0" y="3784639"/>
                </a:lnTo>
                <a:lnTo>
                  <a:pt x="0" y="0"/>
                </a:lnTo>
                <a:lnTo>
                  <a:pt x="6629144" y="0"/>
                </a:lnTo>
                <a:lnTo>
                  <a:pt x="6629144" y="378463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37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316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395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9474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3617658" y="3551960"/>
            <a:ext cx="4461236" cy="4969479"/>
          </a:xfrm>
          <a:custGeom>
            <a:avLst/>
            <a:gdLst/>
            <a:ahLst/>
            <a:cxnLst/>
            <a:rect l="l" t="t" r="r" b="b"/>
            <a:pathLst>
              <a:path w="4461236" h="4969479">
                <a:moveTo>
                  <a:pt x="0" y="0"/>
                </a:moveTo>
                <a:lnTo>
                  <a:pt x="4461236" y="0"/>
                </a:lnTo>
                <a:lnTo>
                  <a:pt x="4461236" y="4969478"/>
                </a:lnTo>
                <a:lnTo>
                  <a:pt x="0" y="4969478"/>
                </a:lnTo>
                <a:lnTo>
                  <a:pt x="0" y="0"/>
                </a:lnTo>
                <a:close/>
              </a:path>
            </a:pathLst>
          </a:custGeom>
          <a:blipFill>
            <a:blip r:embed="rId6"/>
            <a:stretch>
              <a:fillRect/>
            </a:stretch>
          </a:blipFill>
        </p:spPr>
      </p:sp>
      <p:sp>
        <p:nvSpPr>
          <p:cNvPr id="8" name="TextBox 8"/>
          <p:cNvSpPr txBox="1"/>
          <p:nvPr/>
        </p:nvSpPr>
        <p:spPr>
          <a:xfrm>
            <a:off x="237553" y="4429125"/>
            <a:ext cx="14637488" cy="5857875"/>
          </a:xfrm>
          <a:prstGeom prst="rect">
            <a:avLst/>
          </a:prstGeom>
        </p:spPr>
        <p:txBody>
          <a:bodyPr lIns="0" tIns="0" rIns="0" bIns="0" rtlCol="0" anchor="t">
            <a:spAutoFit/>
          </a:bodyPr>
          <a:lstStyle/>
          <a:p>
            <a:pPr marL="647702" lvl="1" indent="-323851" algn="l">
              <a:lnSpc>
                <a:spcPts val="4200"/>
              </a:lnSpc>
              <a:buFont typeface="Arial"/>
              <a:buChar char="•"/>
            </a:pPr>
            <a:r>
              <a:rPr lang="en-US" sz="3000" dirty="0" err="1">
                <a:solidFill>
                  <a:srgbClr val="343434"/>
                </a:solidFill>
                <a:latin typeface="Glacial Indifference"/>
                <a:ea typeface="Glacial Indifference"/>
                <a:cs typeface="Glacial Indifference"/>
                <a:sym typeface="Glacial Indifference"/>
              </a:rPr>
              <a:t>Botalyze</a:t>
            </a:r>
            <a:r>
              <a:rPr lang="en-US" sz="3000" dirty="0">
                <a:solidFill>
                  <a:srgbClr val="343434"/>
                </a:solidFill>
                <a:latin typeface="Glacial Indifference"/>
                <a:ea typeface="Glacial Indifference"/>
                <a:cs typeface="Glacial Indifference"/>
                <a:sym typeface="Glacial Indifference"/>
              </a:rPr>
              <a:t> directly tackles these issues by providing an intelligent, </a:t>
            </a:r>
          </a:p>
          <a:p>
            <a:pPr algn="l">
              <a:lnSpc>
                <a:spcPts val="4200"/>
              </a:lnSpc>
            </a:pPr>
            <a:r>
              <a:rPr lang="en-US" sz="3000" dirty="0">
                <a:solidFill>
                  <a:srgbClr val="343434"/>
                </a:solidFill>
                <a:latin typeface="Glacial Indifference"/>
                <a:ea typeface="Glacial Indifference"/>
                <a:cs typeface="Glacial Indifference"/>
                <a:sym typeface="Glacial Indifference"/>
              </a:rPr>
              <a:t>       always-on voice agent that ensures no customer interaction is missed.</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l">
              <a:lnSpc>
                <a:spcPts val="4200"/>
              </a:lnSpc>
              <a:buFont typeface="Arial"/>
              <a:buChar char="•"/>
            </a:pPr>
            <a:r>
              <a:rPr lang="en-US" sz="3000" dirty="0">
                <a:solidFill>
                  <a:srgbClr val="343434"/>
                </a:solidFill>
                <a:latin typeface="Glacial Indifference"/>
                <a:ea typeface="Glacial Indifference"/>
                <a:cs typeface="Glacial Indifference"/>
                <a:sym typeface="Glacial Indifference"/>
              </a:rPr>
              <a:t>Operational efficiency is maximized, and service quality is consistently high. </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l">
              <a:lnSpc>
                <a:spcPts val="4200"/>
              </a:lnSpc>
              <a:buFont typeface="Arial"/>
              <a:buChar char="•"/>
            </a:pPr>
            <a:r>
              <a:rPr lang="en-US" sz="3000" dirty="0">
                <a:solidFill>
                  <a:srgbClr val="343434"/>
                </a:solidFill>
                <a:latin typeface="Glacial Indifference"/>
                <a:ea typeface="Glacial Indifference"/>
                <a:cs typeface="Glacial Indifference"/>
                <a:sym typeface="Glacial Indifference"/>
              </a:rPr>
              <a:t>By automating routine tasks, businesses can focus on delivering exceptional </a:t>
            </a:r>
          </a:p>
          <a:p>
            <a:pPr algn="l">
              <a:lnSpc>
                <a:spcPts val="4200"/>
              </a:lnSpc>
            </a:pPr>
            <a:r>
              <a:rPr lang="en-US" sz="3000" dirty="0">
                <a:solidFill>
                  <a:srgbClr val="343434"/>
                </a:solidFill>
                <a:latin typeface="Glacial Indifference"/>
                <a:ea typeface="Glacial Indifference"/>
                <a:cs typeface="Glacial Indifference"/>
                <a:sym typeface="Glacial Indifference"/>
              </a:rPr>
              <a:t>      in-person experiences..</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p:txBody>
      </p:sp>
      <p:sp>
        <p:nvSpPr>
          <p:cNvPr id="9" name="TextBox 9"/>
          <p:cNvSpPr txBox="1"/>
          <p:nvPr/>
        </p:nvSpPr>
        <p:spPr>
          <a:xfrm>
            <a:off x="4521363" y="825393"/>
            <a:ext cx="9906379" cy="3165149"/>
          </a:xfrm>
          <a:prstGeom prst="rect">
            <a:avLst/>
          </a:prstGeom>
        </p:spPr>
        <p:txBody>
          <a:bodyPr lIns="0" tIns="0" rIns="0" bIns="0" rtlCol="0" anchor="t">
            <a:spAutoFit/>
          </a:bodyPr>
          <a:lstStyle/>
          <a:p>
            <a:pPr algn="ctr">
              <a:lnSpc>
                <a:spcPts val="12792"/>
              </a:lnSpc>
            </a:pPr>
            <a:r>
              <a:rPr lang="en-US" sz="9137" dirty="0" err="1">
                <a:solidFill>
                  <a:srgbClr val="343434"/>
                </a:solidFill>
                <a:latin typeface="Candal"/>
                <a:ea typeface="Candal"/>
                <a:cs typeface="Candal"/>
                <a:sym typeface="Candal"/>
              </a:rPr>
              <a:t>Botalyze’s</a:t>
            </a:r>
            <a:r>
              <a:rPr lang="en-US" sz="9137" dirty="0">
                <a:solidFill>
                  <a:srgbClr val="343434"/>
                </a:solidFill>
                <a:latin typeface="Candal"/>
                <a:ea typeface="Candal"/>
                <a:cs typeface="Candal"/>
                <a:sym typeface="Candal"/>
              </a:rPr>
              <a:t> Solutions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flipH="1" flipV="1">
            <a:off x="-281714" y="-1089929"/>
            <a:ext cx="6629145" cy="3784639"/>
          </a:xfrm>
          <a:custGeom>
            <a:avLst/>
            <a:gdLst/>
            <a:ahLst/>
            <a:cxnLst/>
            <a:rect l="l" t="t" r="r" b="b"/>
            <a:pathLst>
              <a:path w="6629145" h="3784639">
                <a:moveTo>
                  <a:pt x="6629144" y="3784639"/>
                </a:moveTo>
                <a:lnTo>
                  <a:pt x="0" y="3784639"/>
                </a:lnTo>
                <a:lnTo>
                  <a:pt x="0" y="0"/>
                </a:lnTo>
                <a:lnTo>
                  <a:pt x="6629144" y="0"/>
                </a:lnTo>
                <a:lnTo>
                  <a:pt x="6629144" y="378463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37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316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395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9474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8810412" y="4032831"/>
            <a:ext cx="9275270" cy="4417347"/>
          </a:xfrm>
          <a:custGeom>
            <a:avLst/>
            <a:gdLst/>
            <a:ahLst/>
            <a:cxnLst/>
            <a:rect l="l" t="t" r="r" b="b"/>
            <a:pathLst>
              <a:path w="9275270" h="4417347">
                <a:moveTo>
                  <a:pt x="0" y="0"/>
                </a:moveTo>
                <a:lnTo>
                  <a:pt x="9275269" y="0"/>
                </a:lnTo>
                <a:lnTo>
                  <a:pt x="9275269" y="4417347"/>
                </a:lnTo>
                <a:lnTo>
                  <a:pt x="0" y="4417347"/>
                </a:lnTo>
                <a:lnTo>
                  <a:pt x="0" y="0"/>
                </a:lnTo>
                <a:close/>
              </a:path>
            </a:pathLst>
          </a:custGeom>
          <a:blipFill>
            <a:blip r:embed="rId6"/>
            <a:stretch>
              <a:fillRect/>
            </a:stretch>
          </a:blipFill>
        </p:spPr>
      </p:sp>
      <p:sp>
        <p:nvSpPr>
          <p:cNvPr id="8" name="TextBox 8"/>
          <p:cNvSpPr txBox="1"/>
          <p:nvPr/>
        </p:nvSpPr>
        <p:spPr>
          <a:xfrm>
            <a:off x="559595" y="3662143"/>
            <a:ext cx="7240670" cy="5505818"/>
          </a:xfrm>
          <a:prstGeom prst="rect">
            <a:avLst/>
          </a:prstGeom>
        </p:spPr>
        <p:txBody>
          <a:bodyPr lIns="0" tIns="0" rIns="0" bIns="0" rtlCol="0" anchor="t">
            <a:spAutoFit/>
          </a:bodyPr>
          <a:lstStyle/>
          <a:p>
            <a:pPr marL="678490" lvl="1" indent="-339245" algn="just">
              <a:lnSpc>
                <a:spcPts val="4399"/>
              </a:lnSpc>
              <a:buFont typeface="Arial"/>
              <a:buChar char="•"/>
            </a:pPr>
            <a:r>
              <a:rPr lang="en-US" sz="3142" dirty="0">
                <a:solidFill>
                  <a:srgbClr val="343434"/>
                </a:solidFill>
                <a:latin typeface="Glacial Indifference"/>
                <a:ea typeface="Glacial Indifference"/>
                <a:cs typeface="Glacial Indifference"/>
                <a:sym typeface="Glacial Indifference"/>
              </a:rPr>
              <a:t>The </a:t>
            </a:r>
            <a:r>
              <a:rPr lang="en-US" sz="3142" dirty="0" err="1">
                <a:solidFill>
                  <a:srgbClr val="343434"/>
                </a:solidFill>
                <a:latin typeface="Glacial Indifference"/>
                <a:ea typeface="Glacial Indifference"/>
                <a:cs typeface="Glacial Indifference"/>
                <a:sym typeface="Glacial Indifference"/>
              </a:rPr>
              <a:t>Botalyze</a:t>
            </a:r>
            <a:r>
              <a:rPr lang="en-US" sz="3142" dirty="0">
                <a:solidFill>
                  <a:srgbClr val="343434"/>
                </a:solidFill>
                <a:latin typeface="Glacial Indifference"/>
                <a:ea typeface="Glacial Indifference"/>
                <a:cs typeface="Glacial Indifference"/>
                <a:sym typeface="Glacial Indifference"/>
              </a:rPr>
              <a:t> homepage serves as the gateway to our solution, offering a clear overview of our AI voice agent capabilities and their benefits. Visitors can quickly understand how </a:t>
            </a:r>
            <a:r>
              <a:rPr lang="en-US" sz="3142" dirty="0" err="1">
                <a:solidFill>
                  <a:srgbClr val="343434"/>
                </a:solidFill>
                <a:latin typeface="Glacial Indifference"/>
                <a:ea typeface="Glacial Indifference"/>
                <a:cs typeface="Glacial Indifference"/>
                <a:sym typeface="Glacial Indifference"/>
              </a:rPr>
              <a:t>Botalyze</a:t>
            </a:r>
            <a:r>
              <a:rPr lang="en-US" sz="3142" dirty="0">
                <a:solidFill>
                  <a:srgbClr val="343434"/>
                </a:solidFill>
                <a:latin typeface="Glacial Indifference"/>
                <a:ea typeface="Glacial Indifference"/>
                <a:cs typeface="Glacial Indifference"/>
                <a:sym typeface="Glacial Indifference"/>
              </a:rPr>
              <a:t> transforms customer interactions in the hospitality sector, with intuitive navigation to explore features and pricing.</a:t>
            </a:r>
          </a:p>
          <a:p>
            <a:pPr algn="just">
              <a:lnSpc>
                <a:spcPts val="4399"/>
              </a:lnSpc>
            </a:pPr>
            <a:endParaRPr lang="en-US" sz="3142" dirty="0">
              <a:solidFill>
                <a:srgbClr val="343434"/>
              </a:solidFill>
              <a:latin typeface="Glacial Indifference"/>
              <a:ea typeface="Glacial Indifference"/>
              <a:cs typeface="Glacial Indifference"/>
              <a:sym typeface="Glacial Indifference"/>
            </a:endParaRPr>
          </a:p>
        </p:txBody>
      </p:sp>
      <p:sp>
        <p:nvSpPr>
          <p:cNvPr id="9" name="TextBox 9"/>
          <p:cNvSpPr txBox="1"/>
          <p:nvPr/>
        </p:nvSpPr>
        <p:spPr>
          <a:xfrm>
            <a:off x="1758990" y="1388129"/>
            <a:ext cx="15431125"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Website Home Page</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flipH="1" flipV="1">
            <a:off x="-281714" y="-1089929"/>
            <a:ext cx="6629145" cy="3784639"/>
          </a:xfrm>
          <a:custGeom>
            <a:avLst/>
            <a:gdLst/>
            <a:ahLst/>
            <a:cxnLst/>
            <a:rect l="l" t="t" r="r" b="b"/>
            <a:pathLst>
              <a:path w="6629145" h="3784639">
                <a:moveTo>
                  <a:pt x="6629144" y="3784639"/>
                </a:moveTo>
                <a:lnTo>
                  <a:pt x="0" y="3784639"/>
                </a:lnTo>
                <a:lnTo>
                  <a:pt x="0" y="0"/>
                </a:lnTo>
                <a:lnTo>
                  <a:pt x="6629144" y="0"/>
                </a:lnTo>
                <a:lnTo>
                  <a:pt x="6629144" y="378463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37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316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395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9474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8572882" y="3829957"/>
            <a:ext cx="9232017" cy="4408288"/>
          </a:xfrm>
          <a:custGeom>
            <a:avLst/>
            <a:gdLst/>
            <a:ahLst/>
            <a:cxnLst/>
            <a:rect l="l" t="t" r="r" b="b"/>
            <a:pathLst>
              <a:path w="9232017" h="4408288">
                <a:moveTo>
                  <a:pt x="0" y="0"/>
                </a:moveTo>
                <a:lnTo>
                  <a:pt x="9232017" y="0"/>
                </a:lnTo>
                <a:lnTo>
                  <a:pt x="9232017" y="4408288"/>
                </a:lnTo>
                <a:lnTo>
                  <a:pt x="0" y="4408288"/>
                </a:lnTo>
                <a:lnTo>
                  <a:pt x="0" y="0"/>
                </a:lnTo>
                <a:close/>
              </a:path>
            </a:pathLst>
          </a:custGeom>
          <a:blipFill>
            <a:blip r:embed="rId6"/>
            <a:stretch>
              <a:fillRect/>
            </a:stretch>
          </a:blipFill>
        </p:spPr>
      </p:sp>
      <p:sp>
        <p:nvSpPr>
          <p:cNvPr id="8" name="TextBox 8"/>
          <p:cNvSpPr txBox="1"/>
          <p:nvPr/>
        </p:nvSpPr>
        <p:spPr>
          <a:xfrm>
            <a:off x="558304" y="4148036"/>
            <a:ext cx="7240670" cy="3301553"/>
          </a:xfrm>
          <a:prstGeom prst="rect">
            <a:avLst/>
          </a:prstGeom>
        </p:spPr>
        <p:txBody>
          <a:bodyPr lIns="0" tIns="0" rIns="0" bIns="0" rtlCol="0" anchor="t">
            <a:spAutoFit/>
          </a:bodyPr>
          <a:lstStyle/>
          <a:p>
            <a:pPr marL="678490" lvl="1" indent="-339245" algn="just">
              <a:lnSpc>
                <a:spcPts val="4399"/>
              </a:lnSpc>
              <a:buFont typeface="Arial"/>
              <a:buChar char="•"/>
            </a:pPr>
            <a:r>
              <a:rPr lang="en-US" sz="3142" b="1" dirty="0">
                <a:solidFill>
                  <a:srgbClr val="343434"/>
                </a:solidFill>
                <a:latin typeface="Glacial Indifference Bold"/>
                <a:ea typeface="Glacial Indifference Bold"/>
                <a:cs typeface="Glacial Indifference Bold"/>
                <a:sym typeface="Glacial Indifference Bold"/>
              </a:rPr>
              <a:t>AI Voice Agents : </a:t>
            </a:r>
            <a:r>
              <a:rPr lang="en-US" sz="3142" dirty="0">
                <a:solidFill>
                  <a:srgbClr val="343434"/>
                </a:solidFill>
                <a:latin typeface="Glacial Indifference"/>
                <a:ea typeface="Glacial Indifference"/>
                <a:cs typeface="Glacial Indifference"/>
                <a:sym typeface="Glacial Indifference"/>
              </a:rPr>
              <a:t>Intelligent conversational agents available 24/7.</a:t>
            </a:r>
          </a:p>
          <a:p>
            <a:pPr marL="678490" lvl="1" indent="-339245" algn="just">
              <a:lnSpc>
                <a:spcPts val="4399"/>
              </a:lnSpc>
              <a:buFont typeface="Arial"/>
              <a:buChar char="•"/>
            </a:pPr>
            <a:r>
              <a:rPr lang="en-US" sz="3142" b="1" dirty="0">
                <a:solidFill>
                  <a:srgbClr val="343434"/>
                </a:solidFill>
                <a:latin typeface="Glacial Indifference Bold"/>
                <a:ea typeface="Glacial Indifference Bold"/>
                <a:cs typeface="Glacial Indifference Bold"/>
                <a:sym typeface="Glacial Indifference Bold"/>
              </a:rPr>
              <a:t>Automated Booking : </a:t>
            </a:r>
            <a:r>
              <a:rPr lang="en-US" sz="3142" dirty="0">
                <a:solidFill>
                  <a:srgbClr val="343434"/>
                </a:solidFill>
                <a:latin typeface="Glacial Indifference"/>
                <a:ea typeface="Glacial Indifference"/>
                <a:cs typeface="Glacial Indifference"/>
                <a:sym typeface="Glacial Indifference"/>
              </a:rPr>
              <a:t>Seamless Reservation and inquiry handling.</a:t>
            </a:r>
          </a:p>
          <a:p>
            <a:pPr marL="678490" lvl="1" indent="-339245" algn="just">
              <a:lnSpc>
                <a:spcPts val="4399"/>
              </a:lnSpc>
              <a:buFont typeface="Arial"/>
              <a:buChar char="•"/>
            </a:pPr>
            <a:r>
              <a:rPr lang="en-US" sz="3142" b="1" dirty="0">
                <a:solidFill>
                  <a:srgbClr val="343434"/>
                </a:solidFill>
                <a:latin typeface="Glacial Indifference Bold"/>
                <a:ea typeface="Glacial Indifference Bold"/>
                <a:cs typeface="Glacial Indifference Bold"/>
                <a:sym typeface="Glacial Indifference Bold"/>
              </a:rPr>
              <a:t>Platform Integration : </a:t>
            </a:r>
            <a:r>
              <a:rPr lang="en-US" sz="3142" dirty="0">
                <a:solidFill>
                  <a:srgbClr val="343434"/>
                </a:solidFill>
                <a:latin typeface="Glacial Indifference"/>
                <a:ea typeface="Glacial Indifference"/>
                <a:cs typeface="Glacial Indifference"/>
                <a:sym typeface="Glacial Indifference"/>
              </a:rPr>
              <a:t>Connects with popular booking systems.</a:t>
            </a:r>
          </a:p>
        </p:txBody>
      </p:sp>
      <p:sp>
        <p:nvSpPr>
          <p:cNvPr id="9" name="TextBox 9"/>
          <p:cNvSpPr txBox="1"/>
          <p:nvPr/>
        </p:nvSpPr>
        <p:spPr>
          <a:xfrm>
            <a:off x="2417384" y="719393"/>
            <a:ext cx="13453232" cy="2788683"/>
          </a:xfrm>
          <a:prstGeom prst="rect">
            <a:avLst/>
          </a:prstGeom>
        </p:spPr>
        <p:txBody>
          <a:bodyPr lIns="0" tIns="0" rIns="0" bIns="0" rtlCol="0" anchor="t">
            <a:spAutoFit/>
          </a:bodyPr>
          <a:lstStyle/>
          <a:p>
            <a:pPr algn="ctr">
              <a:lnSpc>
                <a:spcPts val="11229"/>
              </a:lnSpc>
            </a:pPr>
            <a:r>
              <a:rPr lang="en-US" sz="8020" dirty="0">
                <a:solidFill>
                  <a:srgbClr val="343434"/>
                </a:solidFill>
                <a:latin typeface="Candal"/>
                <a:ea typeface="Candal"/>
                <a:cs typeface="Candal"/>
                <a:sym typeface="Candal"/>
              </a:rPr>
              <a:t>Website Product &amp; Services</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flipH="1" flipV="1">
            <a:off x="-281714" y="-1089929"/>
            <a:ext cx="6629145" cy="3784639"/>
          </a:xfrm>
          <a:custGeom>
            <a:avLst/>
            <a:gdLst/>
            <a:ahLst/>
            <a:cxnLst/>
            <a:rect l="l" t="t" r="r" b="b"/>
            <a:pathLst>
              <a:path w="6629145" h="3784639">
                <a:moveTo>
                  <a:pt x="6629144" y="3784639"/>
                </a:moveTo>
                <a:lnTo>
                  <a:pt x="0" y="3784639"/>
                </a:lnTo>
                <a:lnTo>
                  <a:pt x="0" y="0"/>
                </a:lnTo>
                <a:lnTo>
                  <a:pt x="6629144" y="0"/>
                </a:lnTo>
                <a:lnTo>
                  <a:pt x="6629144" y="378463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37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316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395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9474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8324237" y="4029479"/>
            <a:ext cx="9698698" cy="4558388"/>
          </a:xfrm>
          <a:custGeom>
            <a:avLst/>
            <a:gdLst/>
            <a:ahLst/>
            <a:cxnLst/>
            <a:rect l="l" t="t" r="r" b="b"/>
            <a:pathLst>
              <a:path w="9698698" h="4558388">
                <a:moveTo>
                  <a:pt x="0" y="0"/>
                </a:moveTo>
                <a:lnTo>
                  <a:pt x="9698698" y="0"/>
                </a:lnTo>
                <a:lnTo>
                  <a:pt x="9698698" y="4558388"/>
                </a:lnTo>
                <a:lnTo>
                  <a:pt x="0" y="4558388"/>
                </a:lnTo>
                <a:lnTo>
                  <a:pt x="0" y="0"/>
                </a:lnTo>
                <a:close/>
              </a:path>
            </a:pathLst>
          </a:custGeom>
          <a:blipFill>
            <a:blip r:embed="rId6"/>
            <a:stretch>
              <a:fillRect/>
            </a:stretch>
          </a:blipFill>
        </p:spPr>
      </p:sp>
      <p:sp>
        <p:nvSpPr>
          <p:cNvPr id="8" name="TextBox 8"/>
          <p:cNvSpPr txBox="1"/>
          <p:nvPr/>
        </p:nvSpPr>
        <p:spPr>
          <a:xfrm>
            <a:off x="558304" y="4148036"/>
            <a:ext cx="7240670" cy="4953921"/>
          </a:xfrm>
          <a:prstGeom prst="rect">
            <a:avLst/>
          </a:prstGeom>
        </p:spPr>
        <p:txBody>
          <a:bodyPr lIns="0" tIns="0" rIns="0" bIns="0" rtlCol="0" anchor="t">
            <a:spAutoFit/>
          </a:bodyPr>
          <a:lstStyle/>
          <a:p>
            <a:pPr marL="678490" lvl="1" indent="-339245" algn="just">
              <a:lnSpc>
                <a:spcPts val="4399"/>
              </a:lnSpc>
              <a:buFont typeface="Arial"/>
              <a:buChar char="•"/>
            </a:pPr>
            <a:r>
              <a:rPr lang="en-US" sz="3142" dirty="0">
                <a:solidFill>
                  <a:srgbClr val="343434"/>
                </a:solidFill>
                <a:latin typeface="Glacial Indifference"/>
                <a:ea typeface="Glacial Indifference"/>
                <a:cs typeface="Glacial Indifference"/>
                <a:sym typeface="Glacial Indifference"/>
              </a:rPr>
              <a:t>The Contact page is designed for ease of access, allowing prospective clients to reach out for demonstrations, custom quotes, or partnership inquiries. It facilitates direct communication for businesses ready to integrate </a:t>
            </a:r>
            <a:r>
              <a:rPr lang="en-US" sz="3142" dirty="0" err="1">
                <a:solidFill>
                  <a:srgbClr val="343434"/>
                </a:solidFill>
                <a:latin typeface="Glacial Indifference"/>
                <a:ea typeface="Glacial Indifference"/>
                <a:cs typeface="Glacial Indifference"/>
                <a:sym typeface="Glacial Indifference"/>
              </a:rPr>
              <a:t>Botalyze</a:t>
            </a:r>
            <a:r>
              <a:rPr lang="en-US" sz="3142" dirty="0">
                <a:solidFill>
                  <a:srgbClr val="343434"/>
                </a:solidFill>
                <a:latin typeface="Glacial Indifference"/>
                <a:ea typeface="Glacial Indifference"/>
                <a:cs typeface="Glacial Indifference"/>
                <a:sym typeface="Glacial Indifference"/>
              </a:rPr>
              <a:t> into their operations.</a:t>
            </a:r>
          </a:p>
          <a:p>
            <a:pPr algn="just">
              <a:lnSpc>
                <a:spcPts val="4399"/>
              </a:lnSpc>
            </a:pPr>
            <a:endParaRPr lang="en-US" sz="3142" dirty="0">
              <a:solidFill>
                <a:srgbClr val="343434"/>
              </a:solidFill>
              <a:latin typeface="Glacial Indifference"/>
              <a:ea typeface="Glacial Indifference"/>
              <a:cs typeface="Glacial Indifference"/>
              <a:sym typeface="Glacial Indifference"/>
            </a:endParaRPr>
          </a:p>
        </p:txBody>
      </p:sp>
      <p:sp>
        <p:nvSpPr>
          <p:cNvPr id="9" name="TextBox 9"/>
          <p:cNvSpPr txBox="1"/>
          <p:nvPr/>
        </p:nvSpPr>
        <p:spPr>
          <a:xfrm>
            <a:off x="1758990" y="1326745"/>
            <a:ext cx="15431125"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Website Contact Page</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flipH="1" flipV="1">
            <a:off x="-281714" y="-1089929"/>
            <a:ext cx="6629145" cy="3784639"/>
          </a:xfrm>
          <a:custGeom>
            <a:avLst/>
            <a:gdLst/>
            <a:ahLst/>
            <a:cxnLst/>
            <a:rect l="l" t="t" r="r" b="b"/>
            <a:pathLst>
              <a:path w="6629145" h="3784639">
                <a:moveTo>
                  <a:pt x="6629144" y="3784639"/>
                </a:moveTo>
                <a:lnTo>
                  <a:pt x="0" y="3784639"/>
                </a:lnTo>
                <a:lnTo>
                  <a:pt x="0" y="0"/>
                </a:lnTo>
                <a:lnTo>
                  <a:pt x="6629144" y="0"/>
                </a:lnTo>
                <a:lnTo>
                  <a:pt x="6629144" y="378463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37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316553" y="9518165"/>
            <a:ext cx="2806840" cy="385941"/>
          </a:xfrm>
          <a:custGeom>
            <a:avLst/>
            <a:gdLst/>
            <a:ahLst/>
            <a:cxnLst/>
            <a:rect l="l" t="t" r="r" b="b"/>
            <a:pathLst>
              <a:path w="2806840" h="385941">
                <a:moveTo>
                  <a:pt x="0" y="0"/>
                </a:moveTo>
                <a:lnTo>
                  <a:pt x="2806841" y="0"/>
                </a:lnTo>
                <a:lnTo>
                  <a:pt x="2806841"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395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9474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8690271" y="3495369"/>
            <a:ext cx="9597729" cy="4510933"/>
          </a:xfrm>
          <a:custGeom>
            <a:avLst/>
            <a:gdLst/>
            <a:ahLst/>
            <a:cxnLst/>
            <a:rect l="l" t="t" r="r" b="b"/>
            <a:pathLst>
              <a:path w="9597729" h="4510933">
                <a:moveTo>
                  <a:pt x="0" y="0"/>
                </a:moveTo>
                <a:lnTo>
                  <a:pt x="9597729" y="0"/>
                </a:lnTo>
                <a:lnTo>
                  <a:pt x="9597729" y="4510932"/>
                </a:lnTo>
                <a:lnTo>
                  <a:pt x="0" y="4510932"/>
                </a:lnTo>
                <a:lnTo>
                  <a:pt x="0" y="0"/>
                </a:lnTo>
                <a:close/>
              </a:path>
            </a:pathLst>
          </a:custGeom>
          <a:blipFill>
            <a:blip r:embed="rId6"/>
            <a:stretch>
              <a:fillRect/>
            </a:stretch>
          </a:blipFill>
        </p:spPr>
      </p:sp>
      <p:sp>
        <p:nvSpPr>
          <p:cNvPr id="8" name="TextBox 8"/>
          <p:cNvSpPr txBox="1"/>
          <p:nvPr/>
        </p:nvSpPr>
        <p:spPr>
          <a:xfrm>
            <a:off x="609600" y="2794522"/>
            <a:ext cx="6191888" cy="6130478"/>
          </a:xfrm>
          <a:prstGeom prst="rect">
            <a:avLst/>
          </a:prstGeom>
        </p:spPr>
        <p:txBody>
          <a:bodyPr lIns="0" tIns="0" rIns="0" bIns="0" rtlCol="0" anchor="t">
            <a:spAutoFit/>
          </a:bodyPr>
          <a:lstStyle/>
          <a:p>
            <a:pPr marL="580213" lvl="1" indent="-290107" algn="just">
              <a:lnSpc>
                <a:spcPts val="3762"/>
              </a:lnSpc>
              <a:buFont typeface="Arial"/>
              <a:buChar char="•"/>
            </a:pPr>
            <a:r>
              <a:rPr lang="en-US" sz="2687" dirty="0">
                <a:solidFill>
                  <a:srgbClr val="343434"/>
                </a:solidFill>
                <a:latin typeface="Glacial Indifference"/>
                <a:ea typeface="Glacial Indifference"/>
                <a:cs typeface="Glacial Indifference"/>
                <a:sym typeface="Glacial Indifference"/>
              </a:rPr>
              <a:t>AI implementation significantly improved call pickup rates, with hotels experiencing up to 96% increase in answered calls within the first month.</a:t>
            </a:r>
          </a:p>
          <a:p>
            <a:pPr algn="just">
              <a:lnSpc>
                <a:spcPts val="3762"/>
              </a:lnSpc>
            </a:pPr>
            <a:endParaRPr lang="en-US" sz="2687" dirty="0">
              <a:solidFill>
                <a:srgbClr val="343434"/>
              </a:solidFill>
              <a:latin typeface="Glacial Indifference"/>
              <a:ea typeface="Glacial Indifference"/>
              <a:cs typeface="Glacial Indifference"/>
              <a:sym typeface="Glacial Indifference"/>
            </a:endParaRPr>
          </a:p>
          <a:p>
            <a:pPr marL="580213" lvl="1" indent="-290107" algn="just">
              <a:lnSpc>
                <a:spcPts val="3762"/>
              </a:lnSpc>
              <a:buFont typeface="Arial"/>
              <a:buChar char="•"/>
            </a:pPr>
            <a:r>
              <a:rPr lang="en-US" sz="2687" dirty="0">
                <a:solidFill>
                  <a:srgbClr val="343434"/>
                </a:solidFill>
                <a:latin typeface="Glacial Indifference"/>
                <a:ea typeface="Glacial Indifference"/>
                <a:cs typeface="Glacial Indifference"/>
                <a:sym typeface="Glacial Indifference"/>
              </a:rPr>
              <a:t>Reduction in missed calls, especially during peak hours and off-peak shifts, leading to better guest engagement.</a:t>
            </a:r>
          </a:p>
          <a:p>
            <a:pPr algn="just">
              <a:lnSpc>
                <a:spcPts val="3762"/>
              </a:lnSpc>
            </a:pPr>
            <a:endParaRPr lang="en-US" sz="2687" dirty="0">
              <a:solidFill>
                <a:srgbClr val="343434"/>
              </a:solidFill>
              <a:latin typeface="Glacial Indifference"/>
              <a:ea typeface="Glacial Indifference"/>
              <a:cs typeface="Glacial Indifference"/>
              <a:sym typeface="Glacial Indifference"/>
            </a:endParaRPr>
          </a:p>
          <a:p>
            <a:pPr marL="580213" lvl="1" indent="-290107" algn="just">
              <a:lnSpc>
                <a:spcPts val="3762"/>
              </a:lnSpc>
              <a:buFont typeface="Arial"/>
              <a:buChar char="•"/>
            </a:pPr>
            <a:r>
              <a:rPr lang="en-US" sz="2687" dirty="0">
                <a:solidFill>
                  <a:srgbClr val="343434"/>
                </a:solidFill>
                <a:latin typeface="Glacial Indifference"/>
                <a:ea typeface="Glacial Indifference"/>
                <a:cs typeface="Glacial Indifference"/>
                <a:sym typeface="Glacial Indifference"/>
              </a:rPr>
              <a:t>Consistent 24/7 availability ensured every guest inquiry was answered, driving higher customer satisfaction and repeat bookings.</a:t>
            </a:r>
          </a:p>
        </p:txBody>
      </p:sp>
      <p:sp>
        <p:nvSpPr>
          <p:cNvPr id="9" name="TextBox 9"/>
          <p:cNvSpPr txBox="1"/>
          <p:nvPr/>
        </p:nvSpPr>
        <p:spPr>
          <a:xfrm>
            <a:off x="1428437" y="834683"/>
            <a:ext cx="15431125"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Market Growth</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2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2568867" y="-2561505"/>
            <a:ext cx="5513578" cy="5513578"/>
          </a:xfrm>
          <a:custGeom>
            <a:avLst/>
            <a:gdLst/>
            <a:ahLst/>
            <a:cxnLst/>
            <a:rect l="l" t="t" r="r" b="b"/>
            <a:pathLst>
              <a:path w="5513578" h="5513578">
                <a:moveTo>
                  <a:pt x="0" y="0"/>
                </a:moveTo>
                <a:lnTo>
                  <a:pt x="5513577" y="0"/>
                </a:lnTo>
                <a:lnTo>
                  <a:pt x="5513577" y="5513578"/>
                </a:lnTo>
                <a:lnTo>
                  <a:pt x="0" y="55135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3268255" y="-20574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14933" y="-345714"/>
            <a:ext cx="5083377" cy="1623107"/>
          </a:xfrm>
          <a:custGeom>
            <a:avLst/>
            <a:gdLst/>
            <a:ahLst/>
            <a:cxnLst/>
            <a:rect l="l" t="t" r="r" b="b"/>
            <a:pathLst>
              <a:path w="5083377" h="1623107">
                <a:moveTo>
                  <a:pt x="0" y="0"/>
                </a:moveTo>
                <a:lnTo>
                  <a:pt x="5083377" y="0"/>
                </a:lnTo>
                <a:lnTo>
                  <a:pt x="5083377" y="1623107"/>
                </a:lnTo>
                <a:lnTo>
                  <a:pt x="0" y="16231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4002541" y="3825135"/>
            <a:ext cx="3023368" cy="4585343"/>
          </a:xfrm>
          <a:custGeom>
            <a:avLst/>
            <a:gdLst/>
            <a:ahLst/>
            <a:cxnLst/>
            <a:rect l="l" t="t" r="r" b="b"/>
            <a:pathLst>
              <a:path w="3023368" h="4585343">
                <a:moveTo>
                  <a:pt x="0" y="0"/>
                </a:moveTo>
                <a:lnTo>
                  <a:pt x="3023368" y="0"/>
                </a:lnTo>
                <a:lnTo>
                  <a:pt x="3023368" y="4585343"/>
                </a:lnTo>
                <a:lnTo>
                  <a:pt x="0" y="4585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1525380" y="3422231"/>
            <a:ext cx="11742875" cy="5857875"/>
          </a:xfrm>
          <a:prstGeom prst="rect">
            <a:avLst/>
          </a:prstGeom>
        </p:spPr>
        <p:txBody>
          <a:bodyPr lIns="0" tIns="0" rIns="0" bIns="0" rtlCol="0" anchor="t">
            <a:spAutoFit/>
          </a:bodyPr>
          <a:lstStyle/>
          <a:p>
            <a:pPr marL="647702" lvl="1" indent="-323851" algn="l">
              <a:lnSpc>
                <a:spcPts val="4200"/>
              </a:lnSpc>
              <a:buFont typeface="Arial"/>
              <a:buChar char="•"/>
            </a:pPr>
            <a:r>
              <a:rPr lang="en-US" sz="3000" b="1" dirty="0">
                <a:solidFill>
                  <a:srgbClr val="343434"/>
                </a:solidFill>
                <a:latin typeface="Glacial Indifference Bold"/>
                <a:ea typeface="Glacial Indifference Bold"/>
                <a:cs typeface="Glacial Indifference Bold"/>
                <a:sym typeface="Glacial Indifference Bold"/>
              </a:rPr>
              <a:t>Improved Efficiency: </a:t>
            </a:r>
            <a:r>
              <a:rPr lang="en-US" sz="3000" dirty="0">
                <a:solidFill>
                  <a:srgbClr val="343434"/>
                </a:solidFill>
                <a:latin typeface="Glacial Indifference"/>
                <a:ea typeface="Glacial Indifference"/>
                <a:cs typeface="Glacial Indifference"/>
                <a:sym typeface="Glacial Indifference"/>
              </a:rPr>
              <a:t>Significant reduction in time spent on routine booking tasks.</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l">
              <a:lnSpc>
                <a:spcPts val="4200"/>
              </a:lnSpc>
              <a:buFont typeface="Arial"/>
              <a:buChar char="•"/>
            </a:pPr>
            <a:r>
              <a:rPr lang="en-US" sz="3000" b="1" dirty="0">
                <a:solidFill>
                  <a:srgbClr val="343434"/>
                </a:solidFill>
                <a:latin typeface="Glacial Indifference Bold"/>
                <a:ea typeface="Glacial Indifference Bold"/>
                <a:cs typeface="Glacial Indifference Bold"/>
                <a:sym typeface="Glacial Indifference Bold"/>
              </a:rPr>
              <a:t>Faster Response Times: </a:t>
            </a:r>
            <a:r>
              <a:rPr lang="en-US" sz="3000" dirty="0">
                <a:solidFill>
                  <a:srgbClr val="343434"/>
                </a:solidFill>
                <a:latin typeface="Glacial Indifference"/>
                <a:ea typeface="Glacial Indifference"/>
                <a:cs typeface="Glacial Indifference"/>
                <a:sym typeface="Glacial Indifference"/>
              </a:rPr>
              <a:t>Instant customer interaction leads to higher satisfaction.</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l">
              <a:lnSpc>
                <a:spcPts val="4200"/>
              </a:lnSpc>
              <a:buFont typeface="Arial"/>
              <a:buChar char="•"/>
            </a:pPr>
            <a:r>
              <a:rPr lang="en-US" sz="3000" b="1" dirty="0">
                <a:solidFill>
                  <a:srgbClr val="343434"/>
                </a:solidFill>
                <a:latin typeface="Glacial Indifference Bold"/>
                <a:ea typeface="Glacial Indifference Bold"/>
                <a:cs typeface="Glacial Indifference Bold"/>
                <a:sym typeface="Glacial Indifference Bold"/>
              </a:rPr>
              <a:t>Increased Booking Handling:</a:t>
            </a:r>
            <a:r>
              <a:rPr lang="en-US" sz="3000" dirty="0">
                <a:solidFill>
                  <a:srgbClr val="343434"/>
                </a:solidFill>
                <a:latin typeface="Glacial Indifference"/>
                <a:ea typeface="Glacial Indifference"/>
                <a:cs typeface="Glacial Indifference"/>
                <a:sym typeface="Glacial Indifference"/>
              </a:rPr>
              <a:t> Ai agents process more bookings concurrently without errors.</a:t>
            </a:r>
          </a:p>
          <a:p>
            <a:pPr algn="l">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l">
              <a:lnSpc>
                <a:spcPts val="4200"/>
              </a:lnSpc>
              <a:buFont typeface="Arial"/>
              <a:buChar char="•"/>
            </a:pPr>
            <a:r>
              <a:rPr lang="en-US" sz="3000" b="1" dirty="0">
                <a:solidFill>
                  <a:srgbClr val="343434"/>
                </a:solidFill>
                <a:latin typeface="Glacial Indifference Bold"/>
                <a:ea typeface="Glacial Indifference Bold"/>
                <a:cs typeface="Glacial Indifference Bold"/>
                <a:sym typeface="Glacial Indifference Bold"/>
              </a:rPr>
              <a:t>Reduced Operational Loads:</a:t>
            </a:r>
            <a:r>
              <a:rPr lang="en-US" sz="3000" dirty="0">
                <a:solidFill>
                  <a:srgbClr val="343434"/>
                </a:solidFill>
                <a:latin typeface="Glacial Indifference"/>
                <a:ea typeface="Glacial Indifference"/>
                <a:cs typeface="Glacial Indifference"/>
                <a:sym typeface="Glacial Indifference"/>
              </a:rPr>
              <a:t> Staff can now focus on high-value guest experiences.</a:t>
            </a:r>
          </a:p>
        </p:txBody>
      </p:sp>
      <p:sp>
        <p:nvSpPr>
          <p:cNvPr id="7" name="TextBox 7"/>
          <p:cNvSpPr txBox="1"/>
          <p:nvPr/>
        </p:nvSpPr>
        <p:spPr>
          <a:xfrm>
            <a:off x="214933" y="1639078"/>
            <a:ext cx="16810976"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Key Insights from Data</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animEffect transition="in" filter="fade">
                                      <p:cBhvr>
                                        <p:cTn id="21" dur="500"/>
                                        <p:tgtEl>
                                          <p:spTgt spid="6">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rot="5400000">
            <a:off x="-3975434" y="1750419"/>
            <a:ext cx="9608356" cy="4070449"/>
          </a:xfrm>
          <a:custGeom>
            <a:avLst/>
            <a:gdLst/>
            <a:ahLst/>
            <a:cxnLst/>
            <a:rect l="l" t="t" r="r" b="b"/>
            <a:pathLst>
              <a:path w="9608356" h="4070449">
                <a:moveTo>
                  <a:pt x="0" y="0"/>
                </a:moveTo>
                <a:lnTo>
                  <a:pt x="9608356" y="0"/>
                </a:lnTo>
                <a:lnTo>
                  <a:pt x="9608356" y="4070449"/>
                </a:lnTo>
                <a:lnTo>
                  <a:pt x="0" y="40704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268925" y="-902225"/>
            <a:ext cx="3846149" cy="2692304"/>
          </a:xfrm>
          <a:custGeom>
            <a:avLst/>
            <a:gdLst/>
            <a:ahLst/>
            <a:cxnLst/>
            <a:rect l="l" t="t" r="r" b="b"/>
            <a:pathLst>
              <a:path w="3846149" h="2692304">
                <a:moveTo>
                  <a:pt x="0" y="0"/>
                </a:moveTo>
                <a:lnTo>
                  <a:pt x="3846149" y="0"/>
                </a:lnTo>
                <a:lnTo>
                  <a:pt x="3846149" y="2692304"/>
                </a:lnTo>
                <a:lnTo>
                  <a:pt x="0" y="26923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963255" y="1756852"/>
            <a:ext cx="12361490" cy="1470787"/>
          </a:xfrm>
          <a:prstGeom prst="rect">
            <a:avLst/>
          </a:prstGeom>
        </p:spPr>
        <p:txBody>
          <a:bodyPr wrap="square"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Design &amp; Decision</a:t>
            </a:r>
          </a:p>
        </p:txBody>
      </p:sp>
      <p:sp>
        <p:nvSpPr>
          <p:cNvPr id="5" name="TextBox 5"/>
          <p:cNvSpPr txBox="1"/>
          <p:nvPr/>
        </p:nvSpPr>
        <p:spPr>
          <a:xfrm>
            <a:off x="2863968" y="3779937"/>
            <a:ext cx="14089404" cy="4257587"/>
          </a:xfrm>
          <a:prstGeom prst="rect">
            <a:avLst/>
          </a:prstGeom>
        </p:spPr>
        <p:txBody>
          <a:bodyPr lIns="0" tIns="0" rIns="0" bIns="0" rtlCol="0" anchor="t">
            <a:spAutoFit/>
          </a:bodyPr>
          <a:lstStyle/>
          <a:p>
            <a:pPr marL="648445" lvl="1" indent="-324222" algn="just">
              <a:lnSpc>
                <a:spcPts val="4204"/>
              </a:lnSpc>
              <a:buFont typeface="Arial"/>
              <a:buChar char="•"/>
            </a:pPr>
            <a:r>
              <a:rPr lang="en-US" sz="3003" b="1" dirty="0">
                <a:solidFill>
                  <a:srgbClr val="343434"/>
                </a:solidFill>
                <a:latin typeface="Glacial Indifference Bold"/>
                <a:ea typeface="Glacial Indifference Bold"/>
                <a:cs typeface="Glacial Indifference Bold"/>
                <a:sym typeface="Glacial Indifference Bold"/>
              </a:rPr>
              <a:t>UI/UX Simplicity: </a:t>
            </a:r>
            <a:r>
              <a:rPr lang="en-US" sz="3003" dirty="0">
                <a:solidFill>
                  <a:srgbClr val="343434"/>
                </a:solidFill>
                <a:latin typeface="Glacial Indifference"/>
                <a:ea typeface="Glacial Indifference"/>
                <a:cs typeface="Glacial Indifference"/>
                <a:sym typeface="Glacial Indifference"/>
              </a:rPr>
              <a:t>Intuitive interfaces for effortless user and administrator experience.</a:t>
            </a:r>
          </a:p>
          <a:p>
            <a:pPr algn="just">
              <a:lnSpc>
                <a:spcPts val="4204"/>
              </a:lnSpc>
            </a:pPr>
            <a:endParaRPr lang="en-US" sz="3003" dirty="0">
              <a:solidFill>
                <a:srgbClr val="343434"/>
              </a:solidFill>
              <a:latin typeface="Glacial Indifference"/>
              <a:ea typeface="Glacial Indifference"/>
              <a:cs typeface="Glacial Indifference"/>
              <a:sym typeface="Glacial Indifference"/>
            </a:endParaRPr>
          </a:p>
          <a:p>
            <a:pPr marL="648445" lvl="1" indent="-324222" algn="just">
              <a:lnSpc>
                <a:spcPts val="4204"/>
              </a:lnSpc>
              <a:buFont typeface="Arial"/>
              <a:buChar char="•"/>
            </a:pPr>
            <a:r>
              <a:rPr lang="en-US" sz="3003" b="1" dirty="0">
                <a:solidFill>
                  <a:srgbClr val="343434"/>
                </a:solidFill>
                <a:latin typeface="Glacial Indifference Bold"/>
                <a:ea typeface="Glacial Indifference Bold"/>
                <a:cs typeface="Glacial Indifference Bold"/>
                <a:sym typeface="Glacial Indifference Bold"/>
              </a:rPr>
              <a:t>Voice-First AI: </a:t>
            </a:r>
            <a:r>
              <a:rPr lang="en-US" sz="3003" dirty="0">
                <a:solidFill>
                  <a:srgbClr val="343434"/>
                </a:solidFill>
                <a:latin typeface="Glacial Indifference"/>
                <a:ea typeface="Glacial Indifference"/>
                <a:cs typeface="Glacial Indifference"/>
                <a:sym typeface="Glacial Indifference"/>
              </a:rPr>
              <a:t>Prioritizing natural language processing for seamless voice interactions.</a:t>
            </a:r>
          </a:p>
          <a:p>
            <a:pPr algn="just">
              <a:lnSpc>
                <a:spcPts val="4204"/>
              </a:lnSpc>
            </a:pPr>
            <a:endParaRPr lang="en-US" sz="3003" dirty="0">
              <a:solidFill>
                <a:srgbClr val="343434"/>
              </a:solidFill>
              <a:latin typeface="Glacial Indifference"/>
              <a:ea typeface="Glacial Indifference"/>
              <a:cs typeface="Glacial Indifference"/>
              <a:sym typeface="Glacial Indifference"/>
            </a:endParaRPr>
          </a:p>
          <a:p>
            <a:pPr marL="648445" lvl="1" indent="-324222" algn="just">
              <a:lnSpc>
                <a:spcPts val="4204"/>
              </a:lnSpc>
              <a:buFont typeface="Arial"/>
              <a:buChar char="•"/>
            </a:pPr>
            <a:r>
              <a:rPr lang="en-US" sz="3003" b="1" dirty="0">
                <a:solidFill>
                  <a:srgbClr val="343434"/>
                </a:solidFill>
                <a:latin typeface="Glacial Indifference Bold"/>
                <a:ea typeface="Glacial Indifference Bold"/>
                <a:cs typeface="Glacial Indifference Bold"/>
                <a:sym typeface="Glacial Indifference Bold"/>
              </a:rPr>
              <a:t>GitHub Pages: </a:t>
            </a:r>
            <a:r>
              <a:rPr lang="en-US" sz="3003" dirty="0">
                <a:solidFill>
                  <a:srgbClr val="343434"/>
                </a:solidFill>
                <a:latin typeface="Glacial Indifference"/>
                <a:ea typeface="Glacial Indifference"/>
                <a:cs typeface="Glacial Indifference"/>
                <a:sym typeface="Glacial Indifference"/>
              </a:rPr>
              <a:t>Efficient and reliable deployment for project accessibility.</a:t>
            </a:r>
          </a:p>
          <a:p>
            <a:pPr algn="just">
              <a:lnSpc>
                <a:spcPts val="4204"/>
              </a:lnSpc>
            </a:pPr>
            <a:endParaRPr lang="en-US" sz="3003" dirty="0">
              <a:solidFill>
                <a:srgbClr val="343434"/>
              </a:solidFill>
              <a:latin typeface="Glacial Indifference"/>
              <a:ea typeface="Glacial Indifference"/>
              <a:cs typeface="Glacial Indifference"/>
              <a:sym typeface="Glacial Indifference"/>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2568867" y="-2561505"/>
            <a:ext cx="5513578" cy="5513578"/>
          </a:xfrm>
          <a:custGeom>
            <a:avLst/>
            <a:gdLst/>
            <a:ahLst/>
            <a:cxnLst/>
            <a:rect l="l" t="t" r="r" b="b"/>
            <a:pathLst>
              <a:path w="5513578" h="5513578">
                <a:moveTo>
                  <a:pt x="0" y="0"/>
                </a:moveTo>
                <a:lnTo>
                  <a:pt x="5513577" y="0"/>
                </a:lnTo>
                <a:lnTo>
                  <a:pt x="5513577" y="5513578"/>
                </a:lnTo>
                <a:lnTo>
                  <a:pt x="0" y="55135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3268255" y="-20574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14933" y="-345714"/>
            <a:ext cx="5083377" cy="1623107"/>
          </a:xfrm>
          <a:custGeom>
            <a:avLst/>
            <a:gdLst/>
            <a:ahLst/>
            <a:cxnLst/>
            <a:rect l="l" t="t" r="r" b="b"/>
            <a:pathLst>
              <a:path w="5083377" h="1623107">
                <a:moveTo>
                  <a:pt x="0" y="0"/>
                </a:moveTo>
                <a:lnTo>
                  <a:pt x="5083377" y="0"/>
                </a:lnTo>
                <a:lnTo>
                  <a:pt x="5083377" y="1623107"/>
                </a:lnTo>
                <a:lnTo>
                  <a:pt x="0" y="16231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792604" y="6919240"/>
            <a:ext cx="962693" cy="962693"/>
          </a:xfrm>
          <a:custGeom>
            <a:avLst/>
            <a:gdLst/>
            <a:ahLst/>
            <a:cxnLst/>
            <a:rect l="l" t="t" r="r" b="b"/>
            <a:pathLst>
              <a:path w="962693" h="962693">
                <a:moveTo>
                  <a:pt x="0" y="0"/>
                </a:moveTo>
                <a:lnTo>
                  <a:pt x="962693" y="0"/>
                </a:lnTo>
                <a:lnTo>
                  <a:pt x="962693" y="962693"/>
                </a:lnTo>
                <a:lnTo>
                  <a:pt x="0" y="962693"/>
                </a:lnTo>
                <a:lnTo>
                  <a:pt x="0" y="0"/>
                </a:lnTo>
                <a:close/>
              </a:path>
            </a:pathLst>
          </a:custGeom>
          <a:blipFill>
            <a:blip r:embed="rId8"/>
            <a:stretch>
              <a:fillRect/>
            </a:stretch>
          </a:blipFill>
        </p:spPr>
      </p:sp>
      <p:sp>
        <p:nvSpPr>
          <p:cNvPr id="6" name="Freeform 6"/>
          <p:cNvSpPr/>
          <p:nvPr/>
        </p:nvSpPr>
        <p:spPr>
          <a:xfrm>
            <a:off x="716404" y="5640557"/>
            <a:ext cx="1153375" cy="929259"/>
          </a:xfrm>
          <a:custGeom>
            <a:avLst/>
            <a:gdLst/>
            <a:ahLst/>
            <a:cxnLst/>
            <a:rect l="l" t="t" r="r" b="b"/>
            <a:pathLst>
              <a:path w="1153375" h="929259">
                <a:moveTo>
                  <a:pt x="0" y="0"/>
                </a:moveTo>
                <a:lnTo>
                  <a:pt x="1153375" y="0"/>
                </a:lnTo>
                <a:lnTo>
                  <a:pt x="1153375" y="929259"/>
                </a:lnTo>
                <a:lnTo>
                  <a:pt x="0" y="929259"/>
                </a:lnTo>
                <a:lnTo>
                  <a:pt x="0" y="0"/>
                </a:lnTo>
                <a:close/>
              </a:path>
            </a:pathLst>
          </a:custGeom>
          <a:blipFill>
            <a:blip r:embed="rId9"/>
            <a:stretch>
              <a:fillRect/>
            </a:stretch>
          </a:blipFill>
        </p:spPr>
      </p:sp>
      <p:sp>
        <p:nvSpPr>
          <p:cNvPr id="7" name="TextBox 7"/>
          <p:cNvSpPr txBox="1"/>
          <p:nvPr/>
        </p:nvSpPr>
        <p:spPr>
          <a:xfrm>
            <a:off x="1755297" y="3981112"/>
            <a:ext cx="13570358" cy="1590675"/>
          </a:xfrm>
          <a:prstGeom prst="rect">
            <a:avLst/>
          </a:prstGeom>
        </p:spPr>
        <p:txBody>
          <a:bodyPr lIns="0" tIns="0" rIns="0" bIns="0" rtlCol="0" anchor="t">
            <a:spAutoFit/>
          </a:bodyPr>
          <a:lstStyle/>
          <a:p>
            <a:pPr algn="l">
              <a:lnSpc>
                <a:spcPts val="4200"/>
              </a:lnSpc>
            </a:pPr>
            <a:r>
              <a:rPr lang="en-US" sz="3000" b="1" dirty="0">
                <a:solidFill>
                  <a:srgbClr val="343434"/>
                </a:solidFill>
                <a:latin typeface="Glacial Indifference Bold"/>
                <a:ea typeface="Glacial Indifference Bold"/>
                <a:cs typeface="Glacial Indifference Bold"/>
                <a:sym typeface="Glacial Indifference Bold"/>
              </a:rPr>
              <a:t>     </a:t>
            </a:r>
          </a:p>
          <a:p>
            <a:pPr algn="l">
              <a:lnSpc>
                <a:spcPts val="4200"/>
              </a:lnSpc>
            </a:pPr>
            <a:r>
              <a:rPr lang="en-US" sz="3000" dirty="0">
                <a:solidFill>
                  <a:srgbClr val="343434"/>
                </a:solidFill>
                <a:latin typeface="Glacial Indifference"/>
                <a:ea typeface="Glacial Indifference"/>
                <a:cs typeface="Glacial Indifference"/>
                <a:sym typeface="Glacial Indifference"/>
              </a:rPr>
              <a:t>Experience </a:t>
            </a:r>
            <a:r>
              <a:rPr lang="en-US" sz="3000" dirty="0" err="1">
                <a:solidFill>
                  <a:srgbClr val="343434"/>
                </a:solidFill>
                <a:latin typeface="Glacial Indifference"/>
                <a:ea typeface="Glacial Indifference"/>
                <a:cs typeface="Glacial Indifference"/>
                <a:sym typeface="Glacial Indifference"/>
              </a:rPr>
              <a:t>Botalyze</a:t>
            </a:r>
            <a:r>
              <a:rPr lang="en-US" sz="3000" dirty="0">
                <a:solidFill>
                  <a:srgbClr val="343434"/>
                </a:solidFill>
                <a:latin typeface="Glacial Indifference"/>
                <a:ea typeface="Glacial Indifference"/>
                <a:cs typeface="Glacial Indifference"/>
                <a:sym typeface="Glacial Indifference"/>
              </a:rPr>
              <a:t> firsthand and explore our code </a:t>
            </a:r>
          </a:p>
          <a:p>
            <a:pPr algn="l">
              <a:lnSpc>
                <a:spcPts val="4200"/>
              </a:lnSpc>
            </a:pPr>
            <a:r>
              <a:rPr lang="en-US" sz="3000" b="1" dirty="0">
                <a:solidFill>
                  <a:srgbClr val="343434"/>
                </a:solidFill>
                <a:latin typeface="Glacial Indifference Bold"/>
                <a:ea typeface="Glacial Indifference Bold"/>
                <a:cs typeface="Glacial Indifference Bold"/>
                <a:sym typeface="Glacial Indifference Bold"/>
              </a:rPr>
              <a:t>    </a:t>
            </a:r>
          </a:p>
        </p:txBody>
      </p:sp>
      <p:sp>
        <p:nvSpPr>
          <p:cNvPr id="8" name="TextBox 8"/>
          <p:cNvSpPr txBox="1"/>
          <p:nvPr/>
        </p:nvSpPr>
        <p:spPr>
          <a:xfrm>
            <a:off x="792604" y="1841218"/>
            <a:ext cx="16810976"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Resource Links</a:t>
            </a:r>
          </a:p>
        </p:txBody>
      </p:sp>
      <p:sp>
        <p:nvSpPr>
          <p:cNvPr id="9" name="TextBox 9"/>
          <p:cNvSpPr txBox="1"/>
          <p:nvPr/>
        </p:nvSpPr>
        <p:spPr>
          <a:xfrm>
            <a:off x="1491137" y="6067425"/>
            <a:ext cx="11462863" cy="3193182"/>
          </a:xfrm>
          <a:prstGeom prst="rect">
            <a:avLst/>
          </a:prstGeom>
        </p:spPr>
        <p:txBody>
          <a:bodyPr wrap="square" lIns="0" tIns="0" rIns="0" bIns="0" rtlCol="0" anchor="t">
            <a:spAutoFit/>
          </a:bodyPr>
          <a:lstStyle/>
          <a:p>
            <a:pPr algn="l">
              <a:lnSpc>
                <a:spcPts val="4200"/>
              </a:lnSpc>
            </a:pPr>
            <a:r>
              <a:rPr lang="en-US" sz="3000" b="1" dirty="0">
                <a:solidFill>
                  <a:srgbClr val="343434"/>
                </a:solidFill>
                <a:latin typeface="Glacial Indifference Bold"/>
                <a:ea typeface="Glacial Indifference Bold"/>
                <a:cs typeface="Glacial Indifference Bold"/>
                <a:sym typeface="Glacial Indifference Bold"/>
              </a:rPr>
              <a:t>     </a:t>
            </a:r>
          </a:p>
          <a:p>
            <a:pPr algn="l">
              <a:lnSpc>
                <a:spcPts val="4200"/>
              </a:lnSpc>
            </a:pPr>
            <a:endParaRPr lang="en-US" sz="3000" b="1" dirty="0">
              <a:solidFill>
                <a:srgbClr val="343434"/>
              </a:solidFill>
              <a:latin typeface="Glacial Indifference Bold"/>
              <a:ea typeface="Glacial Indifference Bold"/>
              <a:cs typeface="Glacial Indifference Bold"/>
              <a:sym typeface="Glacial Indifference Bold"/>
            </a:endParaRPr>
          </a:p>
          <a:p>
            <a:pPr>
              <a:lnSpc>
                <a:spcPts val="4200"/>
              </a:lnSpc>
            </a:pPr>
            <a:r>
              <a:rPr lang="en-US" sz="3000" b="1" dirty="0">
                <a:solidFill>
                  <a:srgbClr val="343434"/>
                </a:solidFill>
                <a:latin typeface="Glacial Indifference Bold"/>
                <a:ea typeface="Glacial Indifference Bold"/>
                <a:cs typeface="Glacial Indifference Bold"/>
                <a:sym typeface="Glacial Indifference Bold"/>
              </a:rPr>
              <a:t>     GitHub Repository : </a:t>
            </a:r>
            <a:r>
              <a:rPr lang="en-US" sz="3000" b="1" u="sng" dirty="0">
                <a:solidFill>
                  <a:srgbClr val="0000FF"/>
                </a:solidFill>
                <a:latin typeface="Glacial Indifference Bold"/>
                <a:ea typeface="Glacial Indifference Bold"/>
                <a:cs typeface="Glacial Indifference Bold"/>
                <a:sym typeface="Glacial Indifference Bold"/>
              </a:rPr>
              <a:t>https://github.com/Hamz16-30/Botalyze</a:t>
            </a:r>
            <a:r>
              <a:rPr lang="en-US" sz="3000" b="1" dirty="0">
                <a:solidFill>
                  <a:srgbClr val="343434"/>
                </a:solidFill>
                <a:latin typeface="Glacial Indifference Bold"/>
                <a:ea typeface="Glacial Indifference Bold"/>
                <a:cs typeface="Glacial Indifference Bold"/>
                <a:sym typeface="Glacial Indifference Bold"/>
              </a:rPr>
              <a:t> </a:t>
            </a:r>
          </a:p>
          <a:p>
            <a:pPr algn="l">
              <a:lnSpc>
                <a:spcPts val="4200"/>
              </a:lnSpc>
            </a:pPr>
            <a:endParaRPr lang="en-US" sz="3000" b="1" dirty="0">
              <a:solidFill>
                <a:srgbClr val="343434"/>
              </a:solidFill>
              <a:latin typeface="Glacial Indifference Bold"/>
              <a:ea typeface="Glacial Indifference Bold"/>
              <a:cs typeface="Glacial Indifference Bold"/>
              <a:sym typeface="Glacial Indifference Bold"/>
            </a:endParaRPr>
          </a:p>
          <a:p>
            <a:pPr algn="l">
              <a:lnSpc>
                <a:spcPts val="4200"/>
              </a:lnSpc>
            </a:pPr>
            <a:endParaRPr lang="en-US" sz="3000" b="1" dirty="0">
              <a:solidFill>
                <a:srgbClr val="343434"/>
              </a:solidFill>
              <a:latin typeface="Glacial Indifference Bold"/>
              <a:ea typeface="Glacial Indifference Bold"/>
              <a:cs typeface="Glacial Indifference Bold"/>
              <a:sym typeface="Glacial Indifference Bold"/>
            </a:endParaRPr>
          </a:p>
          <a:p>
            <a:pPr algn="l">
              <a:lnSpc>
                <a:spcPts val="4200"/>
              </a:lnSpc>
            </a:pPr>
            <a:endParaRPr lang="en-US" sz="3000" b="1" dirty="0">
              <a:solidFill>
                <a:srgbClr val="343434"/>
              </a:solidFill>
              <a:latin typeface="Glacial Indifference Bold"/>
              <a:ea typeface="Glacial Indifference Bold"/>
              <a:cs typeface="Glacial Indifference Bold"/>
              <a:sym typeface="Glacial Indifference Bold"/>
            </a:endParaRPr>
          </a:p>
        </p:txBody>
      </p:sp>
      <p:sp>
        <p:nvSpPr>
          <p:cNvPr id="10" name="TextBox 10"/>
          <p:cNvSpPr txBox="1"/>
          <p:nvPr/>
        </p:nvSpPr>
        <p:spPr>
          <a:xfrm>
            <a:off x="1491137" y="4743112"/>
            <a:ext cx="10938087" cy="2657475"/>
          </a:xfrm>
          <a:prstGeom prst="rect">
            <a:avLst/>
          </a:prstGeom>
        </p:spPr>
        <p:txBody>
          <a:bodyPr lIns="0" tIns="0" rIns="0" bIns="0" rtlCol="0" anchor="t">
            <a:spAutoFit/>
          </a:bodyPr>
          <a:lstStyle/>
          <a:p>
            <a:pPr algn="l">
              <a:lnSpc>
                <a:spcPts val="4200"/>
              </a:lnSpc>
            </a:pPr>
            <a:r>
              <a:rPr lang="en-US" sz="3000" b="1" dirty="0">
                <a:solidFill>
                  <a:srgbClr val="343434"/>
                </a:solidFill>
                <a:latin typeface="Glacial Indifference Bold"/>
                <a:ea typeface="Glacial Indifference Bold"/>
                <a:cs typeface="Glacial Indifference Bold"/>
                <a:sym typeface="Glacial Indifference Bold"/>
              </a:rPr>
              <a:t>       </a:t>
            </a:r>
          </a:p>
          <a:p>
            <a:pPr algn="l">
              <a:lnSpc>
                <a:spcPts val="4200"/>
              </a:lnSpc>
            </a:pPr>
            <a:r>
              <a:rPr lang="en-US" sz="3000" b="1" dirty="0">
                <a:solidFill>
                  <a:srgbClr val="343434"/>
                </a:solidFill>
                <a:latin typeface="Glacial Indifference Bold"/>
                <a:ea typeface="Glacial Indifference Bold"/>
                <a:cs typeface="Glacial Indifference Bold"/>
                <a:sym typeface="Glacial Indifference Bold"/>
              </a:rPr>
              <a:t> </a:t>
            </a:r>
          </a:p>
          <a:p>
            <a:pPr algn="l">
              <a:lnSpc>
                <a:spcPts val="4200"/>
              </a:lnSpc>
            </a:pPr>
            <a:r>
              <a:rPr lang="en-US" sz="3000" b="1" dirty="0">
                <a:solidFill>
                  <a:srgbClr val="343434"/>
                </a:solidFill>
                <a:latin typeface="Glacial Indifference Bold"/>
                <a:ea typeface="Glacial Indifference Bold"/>
                <a:cs typeface="Glacial Indifference Bold"/>
                <a:sym typeface="Glacial Indifference Bold"/>
              </a:rPr>
              <a:t>     Live Website :  </a:t>
            </a:r>
            <a:r>
              <a:rPr lang="en-US" sz="3000" b="1" u="sng" dirty="0">
                <a:solidFill>
                  <a:srgbClr val="343434"/>
                </a:solidFill>
                <a:latin typeface="Glacial Indifference Bold"/>
                <a:ea typeface="Glacial Indifference Bold"/>
                <a:cs typeface="Glacial Indifference Bold"/>
                <a:sym typeface="Glacial Indifference Bold"/>
                <a:hlinkClick r:id="rId10" tooltip="https://hamz16-30.github.io/Botalyze/"/>
              </a:rPr>
              <a:t>https://hamz16-30.github.io/Botalyze/</a:t>
            </a:r>
          </a:p>
          <a:p>
            <a:pPr algn="l">
              <a:lnSpc>
                <a:spcPts val="4200"/>
              </a:lnSpc>
            </a:pPr>
            <a:endParaRPr lang="en-US" sz="3000" b="1" u="sng" dirty="0">
              <a:solidFill>
                <a:srgbClr val="343434"/>
              </a:solidFill>
              <a:latin typeface="Glacial Indifference Bold"/>
              <a:ea typeface="Glacial Indifference Bold"/>
              <a:cs typeface="Glacial Indifference Bold"/>
              <a:sym typeface="Glacial Indifference Bold"/>
              <a:hlinkClick r:id="rId10" tooltip="https://hamz16-30.github.io/Botalyze/"/>
            </a:endParaRPr>
          </a:p>
          <a:p>
            <a:pPr algn="l">
              <a:lnSpc>
                <a:spcPts val="4200"/>
              </a:lnSpc>
            </a:pPr>
            <a:endParaRPr lang="en-US" sz="3000" b="1" u="sng" dirty="0">
              <a:solidFill>
                <a:srgbClr val="343434"/>
              </a:solidFill>
              <a:latin typeface="Glacial Indifference Bold"/>
              <a:ea typeface="Glacial Indifference Bold"/>
              <a:cs typeface="Glacial Indifference Bold"/>
              <a:sym typeface="Glacial Indifference Bold"/>
              <a:hlinkClick r:id="rId10" tooltip="https://hamz16-30.github.io/Botalyze/"/>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2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25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rot="5400000">
            <a:off x="-3975434" y="1750419"/>
            <a:ext cx="9608356" cy="4070449"/>
          </a:xfrm>
          <a:custGeom>
            <a:avLst/>
            <a:gdLst/>
            <a:ahLst/>
            <a:cxnLst/>
            <a:rect l="l" t="t" r="r" b="b"/>
            <a:pathLst>
              <a:path w="9608356" h="4070449">
                <a:moveTo>
                  <a:pt x="0" y="0"/>
                </a:moveTo>
                <a:lnTo>
                  <a:pt x="9608356" y="0"/>
                </a:lnTo>
                <a:lnTo>
                  <a:pt x="9608356" y="4070449"/>
                </a:lnTo>
                <a:lnTo>
                  <a:pt x="0" y="40704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268925" y="-902225"/>
            <a:ext cx="3846149" cy="2692304"/>
          </a:xfrm>
          <a:custGeom>
            <a:avLst/>
            <a:gdLst/>
            <a:ahLst/>
            <a:cxnLst/>
            <a:rect l="l" t="t" r="r" b="b"/>
            <a:pathLst>
              <a:path w="3846149" h="2692304">
                <a:moveTo>
                  <a:pt x="0" y="0"/>
                </a:moveTo>
                <a:lnTo>
                  <a:pt x="3846149" y="0"/>
                </a:lnTo>
                <a:lnTo>
                  <a:pt x="3846149" y="2692304"/>
                </a:lnTo>
                <a:lnTo>
                  <a:pt x="0" y="26923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4224161" y="1295174"/>
            <a:ext cx="1577480" cy="1577480"/>
          </a:xfrm>
          <a:custGeom>
            <a:avLst/>
            <a:gdLst/>
            <a:ahLst/>
            <a:cxnLst/>
            <a:rect l="l" t="t" r="r" b="b"/>
            <a:pathLst>
              <a:path w="1577480" h="1577480">
                <a:moveTo>
                  <a:pt x="0" y="0"/>
                </a:moveTo>
                <a:lnTo>
                  <a:pt x="1577479" y="0"/>
                </a:lnTo>
                <a:lnTo>
                  <a:pt x="1577479" y="1577480"/>
                </a:lnTo>
                <a:lnTo>
                  <a:pt x="0" y="15774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5287628" y="578862"/>
            <a:ext cx="8911507" cy="3204844"/>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Reflection &amp; Learning</a:t>
            </a:r>
          </a:p>
        </p:txBody>
      </p:sp>
      <p:sp>
        <p:nvSpPr>
          <p:cNvPr id="6" name="TextBox 6"/>
          <p:cNvSpPr txBox="1"/>
          <p:nvPr/>
        </p:nvSpPr>
        <p:spPr>
          <a:xfrm>
            <a:off x="2624040" y="4085688"/>
            <a:ext cx="14238682" cy="6657317"/>
          </a:xfrm>
          <a:prstGeom prst="rect">
            <a:avLst/>
          </a:prstGeom>
        </p:spPr>
        <p:txBody>
          <a:bodyPr lIns="0" tIns="0" rIns="0" bIns="0" rtlCol="0" anchor="t">
            <a:spAutoFit/>
          </a:bodyPr>
          <a:lstStyle/>
          <a:p>
            <a:pPr marL="623351" lvl="1" indent="-311675" algn="just">
              <a:lnSpc>
                <a:spcPts val="4042"/>
              </a:lnSpc>
              <a:buFont typeface="Arial"/>
              <a:buChar char="•"/>
            </a:pPr>
            <a:r>
              <a:rPr lang="en-US" sz="2887" dirty="0">
                <a:solidFill>
                  <a:srgbClr val="343434"/>
                </a:solidFill>
                <a:latin typeface="Glacial Indifference"/>
                <a:ea typeface="Glacial Indifference"/>
                <a:cs typeface="Glacial Indifference"/>
                <a:sym typeface="Glacial Indifference"/>
              </a:rPr>
              <a:t>Understanding a specific business problem.</a:t>
            </a:r>
          </a:p>
          <a:p>
            <a:pPr algn="just">
              <a:lnSpc>
                <a:spcPts val="4042"/>
              </a:lnSpc>
            </a:pPr>
            <a:endParaRPr lang="en-US" sz="2887" dirty="0">
              <a:solidFill>
                <a:srgbClr val="343434"/>
              </a:solidFill>
              <a:latin typeface="Glacial Indifference"/>
              <a:ea typeface="Glacial Indifference"/>
              <a:cs typeface="Glacial Indifference"/>
              <a:sym typeface="Glacial Indifference"/>
            </a:endParaRPr>
          </a:p>
          <a:p>
            <a:pPr marL="623351" lvl="1" indent="-311675" algn="just">
              <a:lnSpc>
                <a:spcPts val="4042"/>
              </a:lnSpc>
              <a:buFont typeface="Arial"/>
              <a:buChar char="•"/>
            </a:pPr>
            <a:r>
              <a:rPr lang="en-US" sz="2887" dirty="0">
                <a:solidFill>
                  <a:srgbClr val="343434"/>
                </a:solidFill>
                <a:latin typeface="Glacial Indifference"/>
                <a:ea typeface="Glacial Indifference"/>
                <a:cs typeface="Glacial Indifference"/>
                <a:sym typeface="Glacial Indifference"/>
              </a:rPr>
              <a:t>We had to narrow the idea down to hotels only and think about actual hotel operations, call volumes, and the pain of missed calls.</a:t>
            </a:r>
          </a:p>
          <a:p>
            <a:pPr algn="just">
              <a:lnSpc>
                <a:spcPts val="4042"/>
              </a:lnSpc>
            </a:pPr>
            <a:endParaRPr lang="en-US" sz="2887" dirty="0">
              <a:solidFill>
                <a:srgbClr val="343434"/>
              </a:solidFill>
              <a:latin typeface="Glacial Indifference"/>
              <a:ea typeface="Glacial Indifference"/>
              <a:cs typeface="Glacial Indifference"/>
              <a:sym typeface="Glacial Indifference"/>
            </a:endParaRPr>
          </a:p>
          <a:p>
            <a:pPr marL="623351" lvl="1" indent="-311675" algn="just">
              <a:lnSpc>
                <a:spcPts val="4042"/>
              </a:lnSpc>
              <a:buFont typeface="Arial"/>
              <a:buChar char="•"/>
            </a:pPr>
            <a:r>
              <a:rPr lang="en-US" sz="2887" dirty="0">
                <a:solidFill>
                  <a:srgbClr val="343434"/>
                </a:solidFill>
                <a:latin typeface="Glacial Indifference"/>
                <a:ea typeface="Glacial Indifference"/>
                <a:cs typeface="Glacial Indifference"/>
                <a:sym typeface="Glacial Indifference"/>
              </a:rPr>
              <a:t>Balancing technical terms with simple language</a:t>
            </a:r>
          </a:p>
          <a:p>
            <a:pPr algn="just">
              <a:lnSpc>
                <a:spcPts val="4042"/>
              </a:lnSpc>
            </a:pPr>
            <a:endParaRPr lang="en-US" sz="2887" dirty="0">
              <a:solidFill>
                <a:srgbClr val="343434"/>
              </a:solidFill>
              <a:latin typeface="Glacial Indifference"/>
              <a:ea typeface="Glacial Indifference"/>
              <a:cs typeface="Glacial Indifference"/>
              <a:sym typeface="Glacial Indifference"/>
            </a:endParaRPr>
          </a:p>
          <a:p>
            <a:pPr marL="623351" lvl="1" indent="-311675" algn="just">
              <a:lnSpc>
                <a:spcPts val="4042"/>
              </a:lnSpc>
              <a:buFont typeface="Arial"/>
              <a:buChar char="•"/>
            </a:pPr>
            <a:r>
              <a:rPr lang="en-US" sz="2887" dirty="0">
                <a:solidFill>
                  <a:srgbClr val="343434"/>
                </a:solidFill>
                <a:latin typeface="Glacial Indifference"/>
                <a:ea typeface="Glacial Indifference"/>
                <a:cs typeface="Glacial Indifference"/>
                <a:sym typeface="Glacial Indifference"/>
              </a:rPr>
              <a:t>It was tempting to use a lot of AI buzzwords, but hotel managers mainly care </a:t>
            </a:r>
          </a:p>
          <a:p>
            <a:pPr algn="just">
              <a:lnSpc>
                <a:spcPts val="4042"/>
              </a:lnSpc>
            </a:pPr>
            <a:r>
              <a:rPr lang="en-US" sz="2887" dirty="0">
                <a:solidFill>
                  <a:srgbClr val="343434"/>
                </a:solidFill>
                <a:latin typeface="Glacial Indifference"/>
                <a:ea typeface="Glacial Indifference"/>
                <a:cs typeface="Glacial Indifference"/>
                <a:sym typeface="Glacial Indifference"/>
              </a:rPr>
              <a:t>      about fewer missed calls and more bookings. Translating technical ideas into</a:t>
            </a:r>
          </a:p>
          <a:p>
            <a:pPr algn="just">
              <a:lnSpc>
                <a:spcPts val="4042"/>
              </a:lnSpc>
            </a:pPr>
            <a:r>
              <a:rPr lang="en-US" sz="2887" dirty="0">
                <a:solidFill>
                  <a:srgbClr val="343434"/>
                </a:solidFill>
                <a:latin typeface="Glacial Indifference"/>
                <a:ea typeface="Glacial Indifference"/>
                <a:cs typeface="Glacial Indifference"/>
                <a:sym typeface="Glacial Indifference"/>
              </a:rPr>
              <a:t>      everyday benefits was a key lesson.</a:t>
            </a:r>
          </a:p>
          <a:p>
            <a:pPr algn="just">
              <a:lnSpc>
                <a:spcPts val="4042"/>
              </a:lnSpc>
            </a:pPr>
            <a:endParaRPr lang="en-US" sz="2887" dirty="0">
              <a:solidFill>
                <a:srgbClr val="343434"/>
              </a:solidFill>
              <a:latin typeface="Glacial Indifference"/>
              <a:ea typeface="Glacial Indifference"/>
              <a:cs typeface="Glacial Indifference"/>
              <a:sym typeface="Glacial Indifference"/>
            </a:endParaRPr>
          </a:p>
          <a:p>
            <a:pPr algn="just">
              <a:lnSpc>
                <a:spcPts val="4042"/>
              </a:lnSpc>
            </a:pPr>
            <a:endParaRPr lang="en-US" sz="2887" dirty="0">
              <a:solidFill>
                <a:srgbClr val="343434"/>
              </a:solidFill>
              <a:latin typeface="Glacial Indifference"/>
              <a:ea typeface="Glacial Indifference"/>
              <a:cs typeface="Glacial Indifference"/>
              <a:sym typeface="Glacial Indifference"/>
            </a:endParaRPr>
          </a:p>
          <a:p>
            <a:pPr algn="just">
              <a:lnSpc>
                <a:spcPts val="4042"/>
              </a:lnSpc>
            </a:pPr>
            <a:endParaRPr lang="en-US" sz="2887" dirty="0">
              <a:solidFill>
                <a:srgbClr val="343434"/>
              </a:solidFill>
              <a:latin typeface="Glacial Indifference"/>
              <a:ea typeface="Glacial Indifference"/>
              <a:cs typeface="Glacial Indifference"/>
              <a:sym typeface="Glacial Indifference"/>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2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descr="Semi-Circle"/>
          <p:cNvSpPr/>
          <p:nvPr/>
        </p:nvSpPr>
        <p:spPr>
          <a:xfrm rot="-10800000">
            <a:off x="12527199" y="7592182"/>
            <a:ext cx="6112013" cy="3056006"/>
          </a:xfrm>
          <a:custGeom>
            <a:avLst/>
            <a:gdLst/>
            <a:ahLst/>
            <a:cxnLst/>
            <a:rect l="l" t="t" r="r" b="b"/>
            <a:pathLst>
              <a:path w="6112013" h="3056006">
                <a:moveTo>
                  <a:pt x="0" y="0"/>
                </a:moveTo>
                <a:lnTo>
                  <a:pt x="6112013" y="0"/>
                </a:lnTo>
                <a:lnTo>
                  <a:pt x="6112013" y="3056006"/>
                </a:lnTo>
                <a:lnTo>
                  <a:pt x="0" y="3056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Lined circle"/>
          <p:cNvSpPr/>
          <p:nvPr/>
        </p:nvSpPr>
        <p:spPr>
          <a:xfrm>
            <a:off x="9474553" y="9518165"/>
            <a:ext cx="2806840" cy="385941"/>
          </a:xfrm>
          <a:custGeom>
            <a:avLst/>
            <a:gdLst/>
            <a:ahLst/>
            <a:cxnLst/>
            <a:rect l="l" t="t" r="r" b="b"/>
            <a:pathLst>
              <a:path w="2806840" h="385941">
                <a:moveTo>
                  <a:pt x="0" y="0"/>
                </a:moveTo>
                <a:lnTo>
                  <a:pt x="2806840" y="0"/>
                </a:lnTo>
                <a:lnTo>
                  <a:pt x="2806840" y="385941"/>
                </a:lnTo>
                <a:lnTo>
                  <a:pt x="0" y="3859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4164044" y="3695700"/>
            <a:ext cx="10621017" cy="2308324"/>
          </a:xfrm>
          <a:prstGeom prst="rect">
            <a:avLst/>
          </a:prstGeom>
        </p:spPr>
        <p:txBody>
          <a:bodyPr wrap="square" lIns="0" tIns="0" rIns="0" bIns="0" rtlCol="0" anchor="t">
            <a:spAutoFit/>
          </a:bodyPr>
          <a:lstStyle/>
          <a:p>
            <a:pPr marL="0" lvl="0" indent="0" algn="ctr">
              <a:lnSpc>
                <a:spcPts val="9000"/>
              </a:lnSpc>
            </a:pPr>
            <a:r>
              <a:rPr lang="en-US" sz="7500" dirty="0">
                <a:solidFill>
                  <a:srgbClr val="343434"/>
                </a:solidFill>
                <a:latin typeface="Candal"/>
                <a:ea typeface="Candal"/>
                <a:cs typeface="Candal"/>
                <a:sym typeface="Candal"/>
              </a:rPr>
              <a:t>Conclusion:</a:t>
            </a:r>
          </a:p>
          <a:p>
            <a:pPr marL="0" lvl="0" indent="0" algn="ctr">
              <a:lnSpc>
                <a:spcPts val="9000"/>
              </a:lnSpc>
            </a:pPr>
            <a:r>
              <a:rPr lang="en-US" sz="7500" dirty="0">
                <a:solidFill>
                  <a:srgbClr val="343434"/>
                </a:solidFill>
                <a:latin typeface="Candal"/>
                <a:ea typeface="Candal"/>
                <a:cs typeface="Candal"/>
                <a:sym typeface="Candal"/>
              </a:rPr>
              <a:t> Why </a:t>
            </a:r>
            <a:r>
              <a:rPr lang="en-US" sz="7500" dirty="0" err="1">
                <a:solidFill>
                  <a:srgbClr val="343434"/>
                </a:solidFill>
                <a:latin typeface="Candal"/>
                <a:ea typeface="Candal"/>
                <a:cs typeface="Candal"/>
                <a:sym typeface="Candal"/>
              </a:rPr>
              <a:t>Botalyze</a:t>
            </a:r>
            <a:r>
              <a:rPr lang="en-US" sz="7500" dirty="0">
                <a:solidFill>
                  <a:srgbClr val="343434"/>
                </a:solidFill>
                <a:latin typeface="Candal"/>
                <a:ea typeface="Candal"/>
                <a:cs typeface="Candal"/>
                <a:sym typeface="Candal"/>
              </a:rPr>
              <a:t>?</a:t>
            </a:r>
          </a:p>
        </p:txBody>
      </p:sp>
      <p:sp>
        <p:nvSpPr>
          <p:cNvPr id="5" name="Freeform 5"/>
          <p:cNvSpPr/>
          <p:nvPr/>
        </p:nvSpPr>
        <p:spPr>
          <a:xfrm flipH="1" flipV="1">
            <a:off x="1951983" y="2633934"/>
            <a:ext cx="2847216" cy="5019131"/>
          </a:xfrm>
          <a:custGeom>
            <a:avLst/>
            <a:gdLst/>
            <a:ahLst/>
            <a:cxnLst/>
            <a:rect l="l" t="t" r="r" b="b"/>
            <a:pathLst>
              <a:path w="2847216" h="5019131">
                <a:moveTo>
                  <a:pt x="2847217" y="5019132"/>
                </a:moveTo>
                <a:lnTo>
                  <a:pt x="0" y="5019132"/>
                </a:lnTo>
                <a:lnTo>
                  <a:pt x="0" y="0"/>
                </a:lnTo>
                <a:lnTo>
                  <a:pt x="2847217" y="0"/>
                </a:lnTo>
                <a:lnTo>
                  <a:pt x="2847217" y="5019132"/>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rot="5400000">
            <a:off x="-4261184" y="1750419"/>
            <a:ext cx="9608356" cy="4070449"/>
          </a:xfrm>
          <a:custGeom>
            <a:avLst/>
            <a:gdLst/>
            <a:ahLst/>
            <a:cxnLst/>
            <a:rect l="l" t="t" r="r" b="b"/>
            <a:pathLst>
              <a:path w="9608356" h="4070449">
                <a:moveTo>
                  <a:pt x="0" y="0"/>
                </a:moveTo>
                <a:lnTo>
                  <a:pt x="9608356" y="0"/>
                </a:lnTo>
                <a:lnTo>
                  <a:pt x="9608356" y="4070449"/>
                </a:lnTo>
                <a:lnTo>
                  <a:pt x="0" y="40704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268925" y="-902225"/>
            <a:ext cx="3846149" cy="2692304"/>
          </a:xfrm>
          <a:custGeom>
            <a:avLst/>
            <a:gdLst/>
            <a:ahLst/>
            <a:cxnLst/>
            <a:rect l="l" t="t" r="r" b="b"/>
            <a:pathLst>
              <a:path w="3846149" h="2692304">
                <a:moveTo>
                  <a:pt x="0" y="0"/>
                </a:moveTo>
                <a:lnTo>
                  <a:pt x="3846149" y="0"/>
                </a:lnTo>
                <a:lnTo>
                  <a:pt x="3846149" y="2692304"/>
                </a:lnTo>
                <a:lnTo>
                  <a:pt x="0" y="26923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462436" y="1383829"/>
            <a:ext cx="13363126"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Final Summary</a:t>
            </a:r>
          </a:p>
        </p:txBody>
      </p:sp>
      <p:sp>
        <p:nvSpPr>
          <p:cNvPr id="5" name="TextBox 5"/>
          <p:cNvSpPr txBox="1"/>
          <p:nvPr/>
        </p:nvSpPr>
        <p:spPr>
          <a:xfrm>
            <a:off x="3426961" y="3543300"/>
            <a:ext cx="11434075" cy="4791075"/>
          </a:xfrm>
          <a:prstGeom prst="rect">
            <a:avLst/>
          </a:prstGeom>
        </p:spPr>
        <p:txBody>
          <a:bodyPr lIns="0" tIns="0" rIns="0" bIns="0" rtlCol="0" anchor="t">
            <a:spAutoFit/>
          </a:bodyPr>
          <a:lstStyle/>
          <a:p>
            <a:pPr marL="647702" lvl="1" indent="-323851" algn="just">
              <a:lnSpc>
                <a:spcPts val="4200"/>
              </a:lnSpc>
              <a:buFont typeface="Arial"/>
              <a:buChar char="•"/>
            </a:pPr>
            <a:r>
              <a:rPr lang="en-US" sz="3000" dirty="0" err="1">
                <a:solidFill>
                  <a:srgbClr val="343434"/>
                </a:solidFill>
                <a:latin typeface="Glacial Indifference"/>
                <a:ea typeface="Glacial Indifference"/>
                <a:cs typeface="Glacial Indifference"/>
                <a:sym typeface="Glacial Indifference"/>
              </a:rPr>
              <a:t>Botalyze</a:t>
            </a:r>
            <a:r>
              <a:rPr lang="en-US" sz="3000" dirty="0">
                <a:solidFill>
                  <a:srgbClr val="343434"/>
                </a:solidFill>
                <a:latin typeface="Glacial Indifference"/>
                <a:ea typeface="Glacial Indifference"/>
                <a:cs typeface="Glacial Indifference"/>
                <a:sym typeface="Glacial Indifference"/>
              </a:rPr>
              <a:t> effectively addresses missed calls and staff workload by providing a reliable AI-powered voice agent for hotels.</a:t>
            </a:r>
          </a:p>
          <a:p>
            <a:pPr algn="just">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just">
              <a:lnSpc>
                <a:spcPts val="4200"/>
              </a:lnSpc>
              <a:buFont typeface="Arial"/>
              <a:buChar char="•"/>
            </a:pPr>
            <a:r>
              <a:rPr lang="en-US" sz="3000" dirty="0">
                <a:solidFill>
                  <a:srgbClr val="343434"/>
                </a:solidFill>
                <a:latin typeface="Glacial Indifference"/>
                <a:ea typeface="Glacial Indifference"/>
                <a:cs typeface="Glacial Indifference"/>
                <a:sym typeface="Glacial Indifference"/>
              </a:rPr>
              <a:t>The solution improves call pickup rates, guest communication, and booking efficiency, leading to increased revenue potential.</a:t>
            </a:r>
          </a:p>
          <a:p>
            <a:pPr algn="just">
              <a:lnSpc>
                <a:spcPts val="4200"/>
              </a:lnSpc>
            </a:pPr>
            <a:endParaRPr lang="en-US" sz="3000" dirty="0">
              <a:solidFill>
                <a:srgbClr val="343434"/>
              </a:solidFill>
              <a:latin typeface="Glacial Indifference"/>
              <a:ea typeface="Glacial Indifference"/>
              <a:cs typeface="Glacial Indifference"/>
              <a:sym typeface="Glacial Indifference"/>
            </a:endParaRPr>
          </a:p>
          <a:p>
            <a:pPr marL="647702" lvl="1" indent="-323851" algn="just">
              <a:lnSpc>
                <a:spcPts val="4200"/>
              </a:lnSpc>
              <a:buFont typeface="Arial"/>
              <a:buChar char="•"/>
            </a:pPr>
            <a:r>
              <a:rPr lang="en-US" sz="3000" dirty="0">
                <a:solidFill>
                  <a:srgbClr val="343434"/>
                </a:solidFill>
                <a:latin typeface="Glacial Indifference"/>
                <a:ea typeface="Glacial Indifference"/>
                <a:cs typeface="Glacial Indifference"/>
                <a:sym typeface="Glacial Indifference"/>
              </a:rPr>
              <a:t>This project demonstrates the future role of AI automation in hospitality, showing how smart technology can support service quality and business growth.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3182110" y="5181110"/>
            <a:ext cx="8154379" cy="8154379"/>
          </a:xfrm>
          <a:custGeom>
            <a:avLst/>
            <a:gdLst/>
            <a:ahLst/>
            <a:cxnLst/>
            <a:rect l="l" t="t" r="r" b="b"/>
            <a:pathLst>
              <a:path w="8154379" h="8154379">
                <a:moveTo>
                  <a:pt x="0" y="0"/>
                </a:moveTo>
                <a:lnTo>
                  <a:pt x="8154380" y="0"/>
                </a:lnTo>
                <a:lnTo>
                  <a:pt x="8154380" y="8154380"/>
                </a:lnTo>
                <a:lnTo>
                  <a:pt x="0" y="81543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964929" y="-728801"/>
            <a:ext cx="4809082" cy="1757501"/>
          </a:xfrm>
          <a:custGeom>
            <a:avLst/>
            <a:gdLst/>
            <a:ahLst/>
            <a:cxnLst/>
            <a:rect l="l" t="t" r="r" b="b"/>
            <a:pathLst>
              <a:path w="4809082" h="1757501">
                <a:moveTo>
                  <a:pt x="0" y="0"/>
                </a:moveTo>
                <a:lnTo>
                  <a:pt x="4809082" y="0"/>
                </a:lnTo>
                <a:lnTo>
                  <a:pt x="4809082" y="1757501"/>
                </a:lnTo>
                <a:lnTo>
                  <a:pt x="0" y="1757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048490" y="-2973269"/>
            <a:ext cx="8154379" cy="8154379"/>
          </a:xfrm>
          <a:custGeom>
            <a:avLst/>
            <a:gdLst/>
            <a:ahLst/>
            <a:cxnLst/>
            <a:rect l="l" t="t" r="r" b="b"/>
            <a:pathLst>
              <a:path w="8154379" h="8154379">
                <a:moveTo>
                  <a:pt x="0" y="0"/>
                </a:moveTo>
                <a:lnTo>
                  <a:pt x="8154380" y="0"/>
                </a:lnTo>
                <a:lnTo>
                  <a:pt x="8154380" y="8154379"/>
                </a:lnTo>
                <a:lnTo>
                  <a:pt x="0" y="81543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722909" y="3425756"/>
            <a:ext cx="10842182" cy="3121562"/>
          </a:xfrm>
          <a:prstGeom prst="rect">
            <a:avLst/>
          </a:prstGeom>
        </p:spPr>
        <p:txBody>
          <a:bodyPr lIns="0" tIns="0" rIns="0" bIns="0" rtlCol="0" anchor="t">
            <a:spAutoFit/>
          </a:bodyPr>
          <a:lstStyle/>
          <a:p>
            <a:pPr algn="ctr">
              <a:lnSpc>
                <a:spcPts val="12055"/>
              </a:lnSpc>
            </a:pPr>
            <a:r>
              <a:rPr lang="en-US" sz="12055" dirty="0">
                <a:solidFill>
                  <a:srgbClr val="343434"/>
                </a:solidFill>
                <a:latin typeface="Candal"/>
                <a:ea typeface="Candal"/>
                <a:cs typeface="Candal"/>
                <a:sym typeface="Candal"/>
              </a:rPr>
              <a:t>ANY QUESTIONS?</a:t>
            </a:r>
          </a:p>
        </p:txBody>
      </p:sp>
      <p:sp>
        <p:nvSpPr>
          <p:cNvPr id="6" name="Freeform 6"/>
          <p:cNvSpPr/>
          <p:nvPr/>
        </p:nvSpPr>
        <p:spPr>
          <a:xfrm>
            <a:off x="-236144" y="-195501"/>
            <a:ext cx="4425558" cy="4425558"/>
          </a:xfrm>
          <a:custGeom>
            <a:avLst/>
            <a:gdLst/>
            <a:ahLst/>
            <a:cxnLst/>
            <a:rect l="l" t="t" r="r" b="b"/>
            <a:pathLst>
              <a:path w="4425558" h="4425558">
                <a:moveTo>
                  <a:pt x="0" y="0"/>
                </a:moveTo>
                <a:lnTo>
                  <a:pt x="4425558" y="0"/>
                </a:lnTo>
                <a:lnTo>
                  <a:pt x="4425558" y="4425558"/>
                </a:lnTo>
                <a:lnTo>
                  <a:pt x="0" y="44255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H="1" flipV="1">
            <a:off x="14171741" y="6177516"/>
            <a:ext cx="4425558" cy="4425558"/>
          </a:xfrm>
          <a:custGeom>
            <a:avLst/>
            <a:gdLst/>
            <a:ahLst/>
            <a:cxnLst/>
            <a:rect l="l" t="t" r="r" b="b"/>
            <a:pathLst>
              <a:path w="4425558" h="4425558">
                <a:moveTo>
                  <a:pt x="4425558" y="4425559"/>
                </a:moveTo>
                <a:lnTo>
                  <a:pt x="0" y="4425559"/>
                </a:lnTo>
                <a:lnTo>
                  <a:pt x="0" y="0"/>
                </a:lnTo>
                <a:lnTo>
                  <a:pt x="4425558" y="0"/>
                </a:lnTo>
                <a:lnTo>
                  <a:pt x="4425558" y="442555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3182110" y="-728801"/>
            <a:ext cx="4809082" cy="1757501"/>
          </a:xfrm>
          <a:custGeom>
            <a:avLst/>
            <a:gdLst/>
            <a:ahLst/>
            <a:cxnLst/>
            <a:rect l="l" t="t" r="r" b="b"/>
            <a:pathLst>
              <a:path w="4809082" h="1757501">
                <a:moveTo>
                  <a:pt x="0" y="0"/>
                </a:moveTo>
                <a:lnTo>
                  <a:pt x="4809083" y="0"/>
                </a:lnTo>
                <a:lnTo>
                  <a:pt x="4809083" y="1757501"/>
                </a:lnTo>
                <a:lnTo>
                  <a:pt x="0" y="1757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8073520" y="-728801"/>
            <a:ext cx="4809082" cy="1757501"/>
          </a:xfrm>
          <a:custGeom>
            <a:avLst/>
            <a:gdLst/>
            <a:ahLst/>
            <a:cxnLst/>
            <a:rect l="l" t="t" r="r" b="b"/>
            <a:pathLst>
              <a:path w="4809082" h="1757501">
                <a:moveTo>
                  <a:pt x="0" y="0"/>
                </a:moveTo>
                <a:lnTo>
                  <a:pt x="4809082" y="0"/>
                </a:lnTo>
                <a:lnTo>
                  <a:pt x="4809082" y="1757501"/>
                </a:lnTo>
                <a:lnTo>
                  <a:pt x="0" y="1757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3182110" y="5181110"/>
            <a:ext cx="8154379" cy="8154379"/>
          </a:xfrm>
          <a:custGeom>
            <a:avLst/>
            <a:gdLst/>
            <a:ahLst/>
            <a:cxnLst/>
            <a:rect l="l" t="t" r="r" b="b"/>
            <a:pathLst>
              <a:path w="8154379" h="8154379">
                <a:moveTo>
                  <a:pt x="0" y="0"/>
                </a:moveTo>
                <a:lnTo>
                  <a:pt x="8154380" y="0"/>
                </a:lnTo>
                <a:lnTo>
                  <a:pt x="8154380" y="8154380"/>
                </a:lnTo>
                <a:lnTo>
                  <a:pt x="0" y="81543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964929" y="-728801"/>
            <a:ext cx="4809082" cy="1757501"/>
          </a:xfrm>
          <a:custGeom>
            <a:avLst/>
            <a:gdLst/>
            <a:ahLst/>
            <a:cxnLst/>
            <a:rect l="l" t="t" r="r" b="b"/>
            <a:pathLst>
              <a:path w="4809082" h="1757501">
                <a:moveTo>
                  <a:pt x="0" y="0"/>
                </a:moveTo>
                <a:lnTo>
                  <a:pt x="4809082" y="0"/>
                </a:lnTo>
                <a:lnTo>
                  <a:pt x="4809082" y="1757501"/>
                </a:lnTo>
                <a:lnTo>
                  <a:pt x="0" y="1757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048490" y="-2973269"/>
            <a:ext cx="8154379" cy="8154379"/>
          </a:xfrm>
          <a:custGeom>
            <a:avLst/>
            <a:gdLst/>
            <a:ahLst/>
            <a:cxnLst/>
            <a:rect l="l" t="t" r="r" b="b"/>
            <a:pathLst>
              <a:path w="8154379" h="8154379">
                <a:moveTo>
                  <a:pt x="0" y="0"/>
                </a:moveTo>
                <a:lnTo>
                  <a:pt x="8154380" y="0"/>
                </a:lnTo>
                <a:lnTo>
                  <a:pt x="8154380" y="8154379"/>
                </a:lnTo>
                <a:lnTo>
                  <a:pt x="0" y="81543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329559" y="3972187"/>
            <a:ext cx="11766040" cy="1940340"/>
          </a:xfrm>
          <a:prstGeom prst="rect">
            <a:avLst/>
          </a:prstGeom>
        </p:spPr>
        <p:txBody>
          <a:bodyPr lIns="0" tIns="0" rIns="0" bIns="0" rtlCol="0" anchor="t">
            <a:spAutoFit/>
          </a:bodyPr>
          <a:lstStyle/>
          <a:p>
            <a:pPr algn="ctr">
              <a:lnSpc>
                <a:spcPts val="14516"/>
              </a:lnSpc>
            </a:pPr>
            <a:r>
              <a:rPr lang="en-US" sz="14516" dirty="0">
                <a:solidFill>
                  <a:srgbClr val="343434"/>
                </a:solidFill>
                <a:latin typeface="Candal"/>
                <a:ea typeface="Candal"/>
                <a:cs typeface="Candal"/>
                <a:sym typeface="Candal"/>
              </a:rPr>
              <a:t>THANK YOU</a:t>
            </a:r>
          </a:p>
        </p:txBody>
      </p:sp>
      <p:sp>
        <p:nvSpPr>
          <p:cNvPr id="6" name="Freeform 6"/>
          <p:cNvSpPr/>
          <p:nvPr/>
        </p:nvSpPr>
        <p:spPr>
          <a:xfrm>
            <a:off x="-236144" y="-195501"/>
            <a:ext cx="4425558" cy="4425558"/>
          </a:xfrm>
          <a:custGeom>
            <a:avLst/>
            <a:gdLst/>
            <a:ahLst/>
            <a:cxnLst/>
            <a:rect l="l" t="t" r="r" b="b"/>
            <a:pathLst>
              <a:path w="4425558" h="4425558">
                <a:moveTo>
                  <a:pt x="0" y="0"/>
                </a:moveTo>
                <a:lnTo>
                  <a:pt x="4425558" y="0"/>
                </a:lnTo>
                <a:lnTo>
                  <a:pt x="4425558" y="4425558"/>
                </a:lnTo>
                <a:lnTo>
                  <a:pt x="0" y="44255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H="1" flipV="1">
            <a:off x="14171741" y="6177516"/>
            <a:ext cx="4425558" cy="4425558"/>
          </a:xfrm>
          <a:custGeom>
            <a:avLst/>
            <a:gdLst/>
            <a:ahLst/>
            <a:cxnLst/>
            <a:rect l="l" t="t" r="r" b="b"/>
            <a:pathLst>
              <a:path w="4425558" h="4425558">
                <a:moveTo>
                  <a:pt x="4425558" y="4425559"/>
                </a:moveTo>
                <a:lnTo>
                  <a:pt x="0" y="4425559"/>
                </a:lnTo>
                <a:lnTo>
                  <a:pt x="0" y="0"/>
                </a:lnTo>
                <a:lnTo>
                  <a:pt x="4425558" y="0"/>
                </a:lnTo>
                <a:lnTo>
                  <a:pt x="4425558" y="442555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3182110" y="-728801"/>
            <a:ext cx="4809082" cy="1757501"/>
          </a:xfrm>
          <a:custGeom>
            <a:avLst/>
            <a:gdLst/>
            <a:ahLst/>
            <a:cxnLst/>
            <a:rect l="l" t="t" r="r" b="b"/>
            <a:pathLst>
              <a:path w="4809082" h="1757501">
                <a:moveTo>
                  <a:pt x="0" y="0"/>
                </a:moveTo>
                <a:lnTo>
                  <a:pt x="4809083" y="0"/>
                </a:lnTo>
                <a:lnTo>
                  <a:pt x="4809083" y="1757501"/>
                </a:lnTo>
                <a:lnTo>
                  <a:pt x="0" y="1757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8073520" y="-728801"/>
            <a:ext cx="4809082" cy="1757501"/>
          </a:xfrm>
          <a:custGeom>
            <a:avLst/>
            <a:gdLst/>
            <a:ahLst/>
            <a:cxnLst/>
            <a:rect l="l" t="t" r="r" b="b"/>
            <a:pathLst>
              <a:path w="4809082" h="1757501">
                <a:moveTo>
                  <a:pt x="0" y="0"/>
                </a:moveTo>
                <a:lnTo>
                  <a:pt x="4809082" y="0"/>
                </a:lnTo>
                <a:lnTo>
                  <a:pt x="4809082" y="1757501"/>
                </a:lnTo>
                <a:lnTo>
                  <a:pt x="0" y="1757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6714123" y="5836327"/>
            <a:ext cx="4996911" cy="606179"/>
          </a:xfrm>
          <a:prstGeom prst="rect">
            <a:avLst/>
          </a:prstGeom>
        </p:spPr>
        <p:txBody>
          <a:bodyPr lIns="0" tIns="0" rIns="0" bIns="0" rtlCol="0" anchor="t">
            <a:spAutoFit/>
          </a:bodyPr>
          <a:lstStyle/>
          <a:p>
            <a:pPr algn="ctr">
              <a:lnSpc>
                <a:spcPts val="4913"/>
              </a:lnSpc>
            </a:pPr>
            <a:r>
              <a:rPr lang="en-US" sz="3509" dirty="0">
                <a:solidFill>
                  <a:srgbClr val="343434"/>
                </a:solidFill>
                <a:latin typeface="Glacial Indifference"/>
                <a:ea typeface="Glacial Indifference"/>
                <a:cs typeface="Glacial Indifference"/>
                <a:sym typeface="Glacial Indifference"/>
              </a:rPr>
              <a:t>For your attention</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379</TotalTime>
  <Words>766</Words>
  <Application>Microsoft Office PowerPoint</Application>
  <PresentationFormat>Custom</PresentationFormat>
  <Paragraphs>121</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Candal</vt:lpstr>
      <vt:lpstr>Glacial Indifference</vt:lpstr>
      <vt:lpstr>Glacial Indifference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Blue Simple Geometric Research Project Presentation</dc:title>
  <cp:lastModifiedBy>Noman Haider</cp:lastModifiedBy>
  <cp:revision>6</cp:revision>
  <dcterms:created xsi:type="dcterms:W3CDTF">2006-08-16T00:00:00Z</dcterms:created>
  <dcterms:modified xsi:type="dcterms:W3CDTF">2026-01-05T16:57:04Z</dcterms:modified>
  <dc:identifier>DAG1mDhyF48</dc:identifier>
</cp:coreProperties>
</file>